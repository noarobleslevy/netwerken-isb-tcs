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_rels/presentation.xml.rels" ContentType="application/vnd.openxmlformats-package.relationships+xml"/>
  <Override PartName="/ppt/media/image23.png" ContentType="image/png"/>
  <Override PartName="/ppt/media/image22.wmf" ContentType="image/x-wmf"/>
  <Override PartName="/ppt/media/image19.png" ContentType="image/png"/>
  <Override PartName="/ppt/media/image21.png" ContentType="image/png"/>
  <Override PartName="/ppt/media/image20.png" ContentType="image/png"/>
  <Override PartName="/ppt/media/image15.wmf" ContentType="image/x-wmf"/>
  <Override PartName="/ppt/media/image7.png" ContentType="image/png"/>
  <Override PartName="/ppt/media/image34.jpeg" ContentType="image/jpeg"/>
  <Override PartName="/ppt/media/image18.png" ContentType="image/png"/>
  <Override PartName="/ppt/media/image4.png" ContentType="image/png"/>
  <Override PartName="/ppt/media/image12.wmf" ContentType="image/x-wmf"/>
  <Override PartName="/ppt/media/image30.wmf" ContentType="image/x-wmf"/>
  <Override PartName="/ppt/media/image27.png" ContentType="image/png"/>
  <Override PartName="/ppt/media/image8.png" ContentType="image/png"/>
  <Override PartName="/ppt/media/image9.wmf" ContentType="image/x-wmf"/>
  <Override PartName="/ppt/media/image14.png" ContentType="image/png"/>
  <Override PartName="/ppt/media/image28.png" ContentType="image/png"/>
  <Override PartName="/ppt/media/image5.png" ContentType="image/png"/>
  <Override PartName="/ppt/media/image13.wmf" ContentType="image/x-wmf"/>
  <Override PartName="/ppt/media/image11.png" ContentType="image/png"/>
  <Override PartName="/ppt/media/image31.jpeg" ContentType="image/jpeg"/>
  <Override PartName="/ppt/media/image10.wmf" ContentType="image/x-wmf"/>
  <Override PartName="/ppt/media/image32.png" ContentType="image/png"/>
  <Override PartName="/ppt/media/image2.png" ContentType="image/png"/>
  <Override PartName="/ppt/media/image25.png" ContentType="image/png"/>
  <Override PartName="/ppt/media/image6.png" ContentType="image/png"/>
  <Override PartName="/ppt/media/image29.png" ContentType="image/png"/>
  <Override PartName="/ppt/media/image33.png" ContentType="image/png"/>
  <Override PartName="/ppt/media/image3.png" ContentType="image/png"/>
  <Override PartName="/ppt/media/image26.png" ContentType="image/png"/>
  <Override PartName="/ppt/media/image1.png" ContentType="image/png"/>
  <Override PartName="/ppt/media/image24.png" ContentType="image/png"/>
  <Override PartName="/ppt/media/image16.png" ContentType="image/png"/>
  <Override PartName="/ppt/media/image17.png" ContentType="image/png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6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8.xml.rels" ContentType="application/vnd.openxmlformats-package.relationships+xml"/>
  <Override PartName="/ppt/slides/_rels/slide19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_rels/slide1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2000" cy="585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357156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663912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/>
          </p:nvPr>
        </p:nvSpPr>
        <p:spPr>
          <a:xfrm>
            <a:off x="50400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/>
          </p:nvPr>
        </p:nvSpPr>
        <p:spPr>
          <a:xfrm>
            <a:off x="357156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/>
          </p:nvPr>
        </p:nvSpPr>
        <p:spPr>
          <a:xfrm>
            <a:off x="663912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ubTitle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2000" cy="585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/>
          </p:nvPr>
        </p:nvSpPr>
        <p:spPr>
          <a:xfrm>
            <a:off x="357156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/>
          </p:nvPr>
        </p:nvSpPr>
        <p:spPr>
          <a:xfrm>
            <a:off x="663912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/>
          </p:nvPr>
        </p:nvSpPr>
        <p:spPr>
          <a:xfrm>
            <a:off x="50400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3" name="PlaceHolder 6"/>
          <p:cNvSpPr>
            <a:spLocks noGrp="1"/>
          </p:cNvSpPr>
          <p:nvPr>
            <p:ph/>
          </p:nvPr>
        </p:nvSpPr>
        <p:spPr>
          <a:xfrm>
            <a:off x="357156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4" name="PlaceHolder 7"/>
          <p:cNvSpPr>
            <a:spLocks noGrp="1"/>
          </p:cNvSpPr>
          <p:nvPr>
            <p:ph/>
          </p:nvPr>
        </p:nvSpPr>
        <p:spPr>
          <a:xfrm>
            <a:off x="663912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subTitle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2000" cy="585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2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/>
          </p:nvPr>
        </p:nvSpPr>
        <p:spPr>
          <a:xfrm>
            <a:off x="357156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4" name="PlaceHolder 4"/>
          <p:cNvSpPr>
            <a:spLocks noGrp="1"/>
          </p:cNvSpPr>
          <p:nvPr>
            <p:ph/>
          </p:nvPr>
        </p:nvSpPr>
        <p:spPr>
          <a:xfrm>
            <a:off x="663912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5" name="PlaceHolder 5"/>
          <p:cNvSpPr>
            <a:spLocks noGrp="1"/>
          </p:cNvSpPr>
          <p:nvPr>
            <p:ph/>
          </p:nvPr>
        </p:nvSpPr>
        <p:spPr>
          <a:xfrm>
            <a:off x="50400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6" name="PlaceHolder 6"/>
          <p:cNvSpPr>
            <a:spLocks noGrp="1"/>
          </p:cNvSpPr>
          <p:nvPr>
            <p:ph/>
          </p:nvPr>
        </p:nvSpPr>
        <p:spPr>
          <a:xfrm>
            <a:off x="357156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7" name="PlaceHolder 7"/>
          <p:cNvSpPr>
            <a:spLocks noGrp="1"/>
          </p:cNvSpPr>
          <p:nvPr>
            <p:ph/>
          </p:nvPr>
        </p:nvSpPr>
        <p:spPr>
          <a:xfrm>
            <a:off x="663912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CustomShape 1"/>
          <p:cNvSpPr/>
          <p:nvPr/>
        </p:nvSpPr>
        <p:spPr>
          <a:xfrm>
            <a:off x="3240" y="0"/>
            <a:ext cx="10074960" cy="7558200"/>
          </a:xfrm>
          <a:custGeom>
            <a:avLst/>
            <a:gdLst/>
            <a:ahLst/>
            <a:rect l="l" t="t" r="r" b="b"/>
            <a:pathLst>
              <a:path w="13487400" h="7581900">
                <a:moveTo>
                  <a:pt x="12083732" y="0"/>
                </a:moveTo>
                <a:lnTo>
                  <a:pt x="3320440" y="0"/>
                </a:lnTo>
                <a:lnTo>
                  <a:pt x="0" y="826719"/>
                </a:lnTo>
                <a:lnTo>
                  <a:pt x="0" y="4931460"/>
                </a:lnTo>
                <a:lnTo>
                  <a:pt x="702690" y="7581900"/>
                </a:lnTo>
                <a:lnTo>
                  <a:pt x="11045558" y="7581900"/>
                </a:lnTo>
                <a:lnTo>
                  <a:pt x="13487400" y="6973925"/>
                </a:lnTo>
                <a:lnTo>
                  <a:pt x="13487400" y="5294325"/>
                </a:lnTo>
                <a:lnTo>
                  <a:pt x="12083732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" name="Group 2"/>
          <p:cNvGrpSpPr/>
          <p:nvPr/>
        </p:nvGrpSpPr>
        <p:grpSpPr>
          <a:xfrm>
            <a:off x="640080" y="6894000"/>
            <a:ext cx="3015720" cy="607320"/>
            <a:chOff x="640080" y="6894000"/>
            <a:chExt cx="3015720" cy="607320"/>
          </a:xfrm>
        </p:grpSpPr>
        <p:sp>
          <p:nvSpPr>
            <p:cNvPr id="2" name="CustomShape 3"/>
            <p:cNvSpPr/>
            <p:nvPr/>
          </p:nvSpPr>
          <p:spPr>
            <a:xfrm>
              <a:off x="640080" y="6894000"/>
              <a:ext cx="3015720" cy="607320"/>
            </a:xfrm>
            <a:prstGeom prst="rect">
              <a:avLst/>
            </a:prstGeom>
            <a:solidFill>
              <a:srgbClr val="ffffff"/>
            </a:solidFill>
            <a:ln w="0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3" name="" descr=""/>
            <p:cNvPicPr/>
            <p:nvPr/>
          </p:nvPicPr>
          <p:blipFill>
            <a:blip r:embed="rId2"/>
            <a:stretch/>
          </p:blipFill>
          <p:spPr>
            <a:xfrm>
              <a:off x="724680" y="6948360"/>
              <a:ext cx="2639880" cy="5119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ustomShape 1"/>
          <p:cNvSpPr/>
          <p:nvPr/>
        </p:nvSpPr>
        <p:spPr>
          <a:xfrm>
            <a:off x="360" y="720"/>
            <a:ext cx="10077840" cy="7587000"/>
          </a:xfrm>
          <a:custGeom>
            <a:avLst/>
            <a:gdLst/>
            <a:ahLst/>
            <a:rect l="l" t="t" r="r" b="b"/>
            <a:pathLst>
              <a:path w="13487400" h="7581900">
                <a:moveTo>
                  <a:pt x="0" y="7581900"/>
                </a:moveTo>
                <a:lnTo>
                  <a:pt x="13487400" y="7581900"/>
                </a:lnTo>
                <a:lnTo>
                  <a:pt x="13487400" y="0"/>
                </a:lnTo>
                <a:lnTo>
                  <a:pt x="0" y="0"/>
                </a:lnTo>
                <a:lnTo>
                  <a:pt x="0" y="7581900"/>
                </a:lnTo>
                <a:close/>
              </a:path>
            </a:pathLst>
          </a:custGeom>
          <a:blipFill rotWithShape="0">
            <a:blip r:embed="rId2"/>
            <a:srcRect/>
            <a:tile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" name="CustomShape 2"/>
          <p:cNvSpPr/>
          <p:nvPr/>
        </p:nvSpPr>
        <p:spPr>
          <a:xfrm>
            <a:off x="360" y="1080"/>
            <a:ext cx="10077840" cy="7587000"/>
          </a:xfrm>
          <a:custGeom>
            <a:avLst/>
            <a:gdLst/>
            <a:ahLst/>
            <a:rect l="l" t="t" r="r" b="b"/>
            <a:pathLst>
              <a:path w="13487400" h="7581900">
                <a:moveTo>
                  <a:pt x="12083732" y="0"/>
                </a:moveTo>
                <a:lnTo>
                  <a:pt x="3320440" y="0"/>
                </a:lnTo>
                <a:lnTo>
                  <a:pt x="0" y="826719"/>
                </a:lnTo>
                <a:lnTo>
                  <a:pt x="0" y="4931460"/>
                </a:lnTo>
                <a:lnTo>
                  <a:pt x="702690" y="7581900"/>
                </a:lnTo>
                <a:lnTo>
                  <a:pt x="11045558" y="7581900"/>
                </a:lnTo>
                <a:lnTo>
                  <a:pt x="13487400" y="6973925"/>
                </a:lnTo>
                <a:lnTo>
                  <a:pt x="13487400" y="5294325"/>
                </a:lnTo>
                <a:lnTo>
                  <a:pt x="12083732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44" name="Group 3"/>
          <p:cNvGrpSpPr/>
          <p:nvPr/>
        </p:nvGrpSpPr>
        <p:grpSpPr>
          <a:xfrm>
            <a:off x="5506560" y="6921360"/>
            <a:ext cx="2832840" cy="638280"/>
            <a:chOff x="5506560" y="6921360"/>
            <a:chExt cx="2832840" cy="638280"/>
          </a:xfrm>
        </p:grpSpPr>
        <p:sp>
          <p:nvSpPr>
            <p:cNvPr id="45" name="CustomShape 4"/>
            <p:cNvSpPr/>
            <p:nvPr/>
          </p:nvSpPr>
          <p:spPr>
            <a:xfrm>
              <a:off x="5506560" y="6921360"/>
              <a:ext cx="2832840" cy="638280"/>
            </a:xfrm>
            <a:prstGeom prst="rect">
              <a:avLst/>
            </a:prstGeom>
            <a:solidFill>
              <a:srgbClr val="ffffff"/>
            </a:solidFill>
            <a:ln w="0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46" name="" descr=""/>
            <p:cNvPicPr/>
            <p:nvPr/>
          </p:nvPicPr>
          <p:blipFill>
            <a:blip r:embed="rId3"/>
            <a:stretch/>
          </p:blipFill>
          <p:spPr>
            <a:xfrm>
              <a:off x="5586120" y="6978600"/>
              <a:ext cx="2479680" cy="53784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</a:t>
            </a:r>
            <a:r>
              <a:rPr b="0" lang="en-US" sz="4400" spc="-1" strike="noStrike">
                <a:latin typeface="Arial"/>
              </a:rPr>
              <a:t>edit the </a:t>
            </a:r>
            <a:r>
              <a:rPr b="0" lang="en-US" sz="4400" spc="-1" strike="noStrike">
                <a:latin typeface="Arial"/>
              </a:rPr>
              <a:t>title text </a:t>
            </a:r>
            <a:r>
              <a:rPr b="0" lang="en-US" sz="4400" spc="-1" strike="noStrike">
                <a:latin typeface="Arial"/>
              </a:rPr>
              <a:t>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CustomShape 1"/>
          <p:cNvSpPr/>
          <p:nvPr/>
        </p:nvSpPr>
        <p:spPr>
          <a:xfrm>
            <a:off x="360" y="720"/>
            <a:ext cx="10077840" cy="7587000"/>
          </a:xfrm>
          <a:custGeom>
            <a:avLst/>
            <a:gdLst/>
            <a:ahLst/>
            <a:rect l="l" t="t" r="r" b="b"/>
            <a:pathLst>
              <a:path w="13487400" h="7581900">
                <a:moveTo>
                  <a:pt x="0" y="7581900"/>
                </a:moveTo>
                <a:lnTo>
                  <a:pt x="13487400" y="7581900"/>
                </a:lnTo>
                <a:lnTo>
                  <a:pt x="13487400" y="0"/>
                </a:lnTo>
                <a:lnTo>
                  <a:pt x="0" y="0"/>
                </a:lnTo>
                <a:lnTo>
                  <a:pt x="0" y="7581900"/>
                </a:lnTo>
                <a:close/>
              </a:path>
            </a:pathLst>
          </a:custGeom>
          <a:blipFill rotWithShape="0">
            <a:blip r:embed="rId2"/>
            <a:srcRect/>
            <a:tile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6" name="CustomShape 2"/>
          <p:cNvSpPr/>
          <p:nvPr/>
        </p:nvSpPr>
        <p:spPr>
          <a:xfrm>
            <a:off x="360" y="1080"/>
            <a:ext cx="10077840" cy="7587000"/>
          </a:xfrm>
          <a:custGeom>
            <a:avLst/>
            <a:gdLst/>
            <a:ahLst/>
            <a:rect l="l" t="t" r="r" b="b"/>
            <a:pathLst>
              <a:path w="13487400" h="7581900">
                <a:moveTo>
                  <a:pt x="12083732" y="0"/>
                </a:moveTo>
                <a:lnTo>
                  <a:pt x="3320440" y="0"/>
                </a:lnTo>
                <a:lnTo>
                  <a:pt x="0" y="826719"/>
                </a:lnTo>
                <a:lnTo>
                  <a:pt x="0" y="4931460"/>
                </a:lnTo>
                <a:lnTo>
                  <a:pt x="702690" y="7581900"/>
                </a:lnTo>
                <a:lnTo>
                  <a:pt x="11045558" y="7581900"/>
                </a:lnTo>
                <a:lnTo>
                  <a:pt x="13487400" y="6973925"/>
                </a:lnTo>
                <a:lnTo>
                  <a:pt x="13487400" y="5294325"/>
                </a:lnTo>
                <a:lnTo>
                  <a:pt x="12083732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87" name="Group 3"/>
          <p:cNvGrpSpPr/>
          <p:nvPr/>
        </p:nvGrpSpPr>
        <p:grpSpPr>
          <a:xfrm>
            <a:off x="5506560" y="6921360"/>
            <a:ext cx="2832840" cy="638280"/>
            <a:chOff x="5506560" y="6921360"/>
            <a:chExt cx="2832840" cy="638280"/>
          </a:xfrm>
        </p:grpSpPr>
        <p:sp>
          <p:nvSpPr>
            <p:cNvPr id="88" name="CustomShape 4"/>
            <p:cNvSpPr/>
            <p:nvPr/>
          </p:nvSpPr>
          <p:spPr>
            <a:xfrm>
              <a:off x="5506560" y="6921360"/>
              <a:ext cx="2832840" cy="638280"/>
            </a:xfrm>
            <a:prstGeom prst="rect">
              <a:avLst/>
            </a:prstGeom>
            <a:solidFill>
              <a:srgbClr val="ffffff"/>
            </a:solidFill>
            <a:ln w="0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89" name="" descr=""/>
            <p:cNvPicPr/>
            <p:nvPr/>
          </p:nvPicPr>
          <p:blipFill>
            <a:blip r:embed="rId3"/>
            <a:stretch/>
          </p:blipFill>
          <p:spPr>
            <a:xfrm>
              <a:off x="5586120" y="6978600"/>
              <a:ext cx="2479680" cy="53784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wmf"/><Relationship Id="rId4" Type="http://schemas.openxmlformats.org/officeDocument/2006/relationships/image" Target="../media/image10.wmf"/><Relationship Id="rId5" Type="http://schemas.openxmlformats.org/officeDocument/2006/relationships/image" Target="../media/image11.png"/><Relationship Id="rId6" Type="http://schemas.openxmlformats.org/officeDocument/2006/relationships/image" Target="../media/image12.wmf"/><Relationship Id="rId7" Type="http://schemas.openxmlformats.org/officeDocument/2006/relationships/image" Target="../media/image13.wmf"/><Relationship Id="rId8" Type="http://schemas.openxmlformats.org/officeDocument/2006/relationships/image" Target="../media/image14.png"/><Relationship Id="rId9" Type="http://schemas.openxmlformats.org/officeDocument/2006/relationships/image" Target="../media/image15.wmf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wmf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wmf"/><Relationship Id="rId5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1.jpeg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slideLayout" Target="../slideLayouts/slideLayout2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34.jpeg"/><Relationship Id="rId2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CustomShape 1"/>
          <p:cNvSpPr/>
          <p:nvPr/>
        </p:nvSpPr>
        <p:spPr>
          <a:xfrm>
            <a:off x="640080" y="301320"/>
            <a:ext cx="8933760" cy="585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Netwerken 2 ISB</a:t>
            </a:r>
            <a:br>
              <a:rPr sz="1800"/>
            </a:b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Inleiding Threaded Case Study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CustomShape 1"/>
          <p:cNvSpPr/>
          <p:nvPr/>
        </p:nvSpPr>
        <p:spPr>
          <a:xfrm>
            <a:off x="640080" y="301320"/>
            <a:ext cx="8933760" cy="12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Examen Netwerken 2 - ISB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130" name="CustomShape 2"/>
          <p:cNvSpPr/>
          <p:nvPr/>
        </p:nvSpPr>
        <p:spPr>
          <a:xfrm>
            <a:off x="504000" y="1769040"/>
            <a:ext cx="9069840" cy="498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3640">
              <a:lnSpc>
                <a:spcPct val="100000"/>
              </a:lnSpc>
              <a:spcAft>
                <a:spcPts val="1417"/>
              </a:spcAft>
              <a:buClr>
                <a:srgbClr val="c4d82f"/>
              </a:buClr>
              <a:buFont typeface="Wingdings" charset="2"/>
              <a:buChar char="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Exam during exam-period P4</a:t>
            </a:r>
            <a:endParaRPr b="0" lang="en-US" sz="24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Aft>
                <a:spcPts val="1134"/>
              </a:spcAft>
              <a:buClr>
                <a:srgbClr val="0c2c80"/>
              </a:buClr>
              <a:buSzPct val="60000"/>
              <a:buFont typeface="Wingdings" charset="2"/>
              <a:buChar char="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Every team presents network design</a:t>
            </a:r>
            <a:endParaRPr b="0" lang="en-US" sz="24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Aft>
                <a:spcPts val="1417"/>
              </a:spcAft>
              <a:buClr>
                <a:srgbClr val="c4d82f"/>
              </a:buClr>
              <a:buFont typeface="Wingdings" charset="2"/>
              <a:buChar char="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Deadline: Submit network design and documentation  before  23:59:59 the evening before the exam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CustomShape 1"/>
          <p:cNvSpPr/>
          <p:nvPr/>
        </p:nvSpPr>
        <p:spPr>
          <a:xfrm>
            <a:off x="640080" y="301320"/>
            <a:ext cx="8933760" cy="12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Threaded Case Study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132" name="CustomShape 2"/>
          <p:cNvSpPr/>
          <p:nvPr/>
        </p:nvSpPr>
        <p:spPr>
          <a:xfrm>
            <a:off x="504000" y="1769040"/>
            <a:ext cx="9069840" cy="498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3640">
              <a:lnSpc>
                <a:spcPct val="100000"/>
              </a:lnSpc>
              <a:spcAft>
                <a:spcPts val="1417"/>
              </a:spcAft>
              <a:buClr>
                <a:srgbClr val="c4d82f"/>
              </a:buClr>
              <a:buFont typeface="Wingdings" charset="2"/>
              <a:buChar char="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Design of a network</a:t>
            </a:r>
            <a:endParaRPr b="0" lang="en-US" sz="24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Aft>
                <a:spcPts val="1134"/>
              </a:spcAft>
              <a:buClr>
                <a:srgbClr val="0c2c80"/>
              </a:buClr>
              <a:buSzPct val="60000"/>
              <a:buFont typeface="Wingdings" charset="2"/>
              <a:buChar char="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Redundant routers</a:t>
            </a:r>
            <a:endParaRPr b="0" lang="en-US" sz="24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Aft>
                <a:spcPts val="1134"/>
              </a:spcAft>
              <a:buClr>
                <a:srgbClr val="0c2c80"/>
              </a:buClr>
              <a:buSzPct val="60000"/>
              <a:buFont typeface="Wingdings" charset="2"/>
              <a:buChar char="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Redundant servers</a:t>
            </a:r>
            <a:endParaRPr b="0" lang="en-US" sz="24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Aft>
                <a:spcPts val="1134"/>
              </a:spcAft>
              <a:buClr>
                <a:srgbClr val="0c2c80"/>
              </a:buClr>
              <a:buSzPct val="60000"/>
              <a:buFont typeface="Wingdings" charset="2"/>
              <a:buChar char="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VPN solution</a:t>
            </a:r>
            <a:br>
              <a:rPr sz="1800"/>
            </a:b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endParaRPr b="0" lang="en-US" sz="24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Aft>
                <a:spcPts val="1417"/>
              </a:spcAft>
              <a:buClr>
                <a:srgbClr val="c4d82f"/>
              </a:buClr>
              <a:buFont typeface="Wingdings" charset="2"/>
              <a:buChar char="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Demo during class : </a:t>
            </a:r>
            <a:r>
              <a:rPr b="1" lang="en-US" sz="2400" spc="-1" strike="noStrike">
                <a:solidFill>
                  <a:srgbClr val="ff0000"/>
                </a:solidFill>
                <a:latin typeface="Times New Roman"/>
                <a:ea typeface="DejaVu Sans"/>
              </a:rPr>
              <a:t>OPGELET LAATSTE LES 21/05 !</a:t>
            </a:r>
            <a:endParaRPr b="0" lang="en-US" sz="24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Aft>
                <a:spcPts val="1417"/>
              </a:spcAft>
              <a:buClr>
                <a:srgbClr val="c4d82f"/>
              </a:buClr>
              <a:buFont typeface="Wingdings" charset="2"/>
              <a:buChar char="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Documentation</a:t>
            </a:r>
            <a:endParaRPr b="0" lang="en-US" sz="24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Aft>
                <a:spcPts val="1417"/>
              </a:spcAft>
              <a:buClr>
                <a:srgbClr val="c4d82f"/>
              </a:buClr>
              <a:buFont typeface="Wingdings" charset="2"/>
              <a:buChar char="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Presentation during exam period 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33" name="" descr=""/>
          <p:cNvPicPr/>
          <p:nvPr/>
        </p:nvPicPr>
        <p:blipFill>
          <a:blip r:embed="rId1"/>
          <a:stretch/>
        </p:blipFill>
        <p:spPr>
          <a:xfrm>
            <a:off x="8229600" y="3657600"/>
            <a:ext cx="1678320" cy="1667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CustomShape 1"/>
          <p:cNvSpPr/>
          <p:nvPr/>
        </p:nvSpPr>
        <p:spPr>
          <a:xfrm>
            <a:off x="640080" y="301320"/>
            <a:ext cx="8933760" cy="12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Demo in class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135" name="CustomShape 2"/>
          <p:cNvSpPr/>
          <p:nvPr/>
        </p:nvSpPr>
        <p:spPr>
          <a:xfrm>
            <a:off x="504000" y="1805040"/>
            <a:ext cx="9069840" cy="498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3640">
              <a:lnSpc>
                <a:spcPct val="100000"/>
              </a:lnSpc>
              <a:spcAft>
                <a:spcPts val="1417"/>
              </a:spcAft>
              <a:buClr>
                <a:srgbClr val="c4d82f"/>
              </a:buClr>
              <a:buFont typeface="Wingdings" charset="2"/>
              <a:buChar char="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Show your solutions during classes</a:t>
            </a:r>
            <a:endParaRPr b="0" lang="en-US" sz="24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Aft>
                <a:spcPts val="1417"/>
              </a:spcAft>
              <a:buClr>
                <a:srgbClr val="c4d82f"/>
              </a:buClr>
              <a:buFont typeface="Wingdings" charset="2"/>
              <a:buChar char="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You do NOT have to show the full solution at once</a:t>
            </a:r>
            <a:endParaRPr b="0" lang="en-US" sz="24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Aft>
                <a:spcPts val="1134"/>
              </a:spcAft>
              <a:buClr>
                <a:srgbClr val="0c2c80"/>
              </a:buClr>
              <a:buSzPct val="60000"/>
              <a:buFont typeface="Wingdings" charset="2"/>
              <a:buChar char="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Demo redundant router / gateway</a:t>
            </a:r>
            <a:endParaRPr b="0" lang="en-US" sz="24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Aft>
                <a:spcPts val="1134"/>
              </a:spcAft>
              <a:buClr>
                <a:srgbClr val="0c2c80"/>
              </a:buClr>
              <a:buSzPct val="60000"/>
              <a:buFont typeface="Wingdings" charset="2"/>
              <a:buChar char="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Demo redundant servers</a:t>
            </a:r>
            <a:endParaRPr b="0" lang="en-US" sz="24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Aft>
                <a:spcPts val="1134"/>
              </a:spcAft>
              <a:buClr>
                <a:srgbClr val="0c2c80"/>
              </a:buClr>
              <a:buSzPct val="60000"/>
              <a:buFont typeface="Wingdings" charset="2"/>
              <a:buChar char="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Demo VPN solution</a:t>
            </a:r>
            <a:endParaRPr b="0" lang="en-US" sz="24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Aft>
                <a:spcPts val="1417"/>
              </a:spcAft>
              <a:buClr>
                <a:srgbClr val="c4d82f"/>
              </a:buClr>
              <a:buFont typeface="Wingdings" charset="2"/>
              <a:buChar char="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Tools:</a:t>
            </a:r>
            <a:endParaRPr b="0" lang="en-US" sz="24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Aft>
                <a:spcPts val="1134"/>
              </a:spcAft>
              <a:buClr>
                <a:srgbClr val="0c2c80"/>
              </a:buClr>
              <a:buSzPct val="60000"/>
              <a:buFont typeface="Wingdings" charset="2"/>
              <a:buChar char="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GNS3 </a:t>
            </a:r>
            <a:endParaRPr b="0" lang="en-US" sz="24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Aft>
                <a:spcPts val="1134"/>
              </a:spcAft>
              <a:buClr>
                <a:srgbClr val="0c2c80"/>
              </a:buClr>
              <a:buSzPct val="60000"/>
              <a:buFont typeface="Wingdings" charset="2"/>
              <a:buChar char="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Vyos  (juniper)</a:t>
            </a:r>
            <a:endParaRPr b="0" lang="en-US" sz="24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Aft>
                <a:spcPts val="1134"/>
              </a:spcAft>
              <a:buClr>
                <a:srgbClr val="0c2c80"/>
              </a:buClr>
              <a:buSzPct val="60000"/>
              <a:buFont typeface="Wingdings" charset="2"/>
              <a:buChar char="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Packet tracer (limited unstable when combining solutions)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417"/>
              </a:spcAft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34"/>
              </a:spcAft>
              <a:buNone/>
            </a:pPr>
            <a:endParaRPr b="0" lang="en-US" sz="2400" spc="-1" strike="noStrike">
              <a:latin typeface="Arial"/>
            </a:endParaRPr>
          </a:p>
        </p:txBody>
      </p:sp>
      <p:sp>
        <p:nvSpPr>
          <p:cNvPr id="136" name="CustomShape 3"/>
          <p:cNvSpPr/>
          <p:nvPr/>
        </p:nvSpPr>
        <p:spPr>
          <a:xfrm>
            <a:off x="7772400" y="110880"/>
            <a:ext cx="2135880" cy="43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0c2c80"/>
                </a:solidFill>
                <a:latin typeface="Times New Roman"/>
                <a:ea typeface="DejaVu Sans"/>
              </a:rPr>
              <a:t>Demo in class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CustomShape 10"/>
          <p:cNvSpPr/>
          <p:nvPr/>
        </p:nvSpPr>
        <p:spPr>
          <a:xfrm>
            <a:off x="640080" y="301320"/>
            <a:ext cx="8933760" cy="12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Demo redundant router/gateway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138" name="CustomShape 11"/>
          <p:cNvSpPr/>
          <p:nvPr/>
        </p:nvSpPr>
        <p:spPr>
          <a:xfrm>
            <a:off x="302040" y="1640880"/>
            <a:ext cx="9069840" cy="498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3640">
              <a:lnSpc>
                <a:spcPct val="100000"/>
              </a:lnSpc>
              <a:spcAft>
                <a:spcPts val="1417"/>
              </a:spcAft>
              <a:buClr>
                <a:srgbClr val="c4d82f"/>
              </a:buClr>
              <a:buFont typeface="Wingdings" charset="2"/>
              <a:buChar char="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NOT in packet tracer</a:t>
            </a:r>
            <a:endParaRPr b="0" lang="en-US" sz="24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Aft>
                <a:spcPts val="1417"/>
              </a:spcAft>
              <a:buClr>
                <a:srgbClr val="c4d82f"/>
              </a:buClr>
              <a:buFont typeface="Wingdings" charset="2"/>
              <a:buChar char="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Minimum setup: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417"/>
              </a:spcAft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417"/>
              </a:spcAft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34"/>
              </a:spcAft>
              <a:buNone/>
            </a:pPr>
            <a:endParaRPr b="0" lang="en-US" sz="2400" spc="-1" strike="noStrike">
              <a:latin typeface="Arial"/>
            </a:endParaRPr>
          </a:p>
        </p:txBody>
      </p:sp>
      <p:sp>
        <p:nvSpPr>
          <p:cNvPr id="139" name="CustomShape 12"/>
          <p:cNvSpPr/>
          <p:nvPr/>
        </p:nvSpPr>
        <p:spPr>
          <a:xfrm>
            <a:off x="7772400" y="110880"/>
            <a:ext cx="2135880" cy="43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0c2c80"/>
                </a:solidFill>
                <a:latin typeface="Times New Roman"/>
                <a:ea typeface="DejaVu Sans"/>
              </a:rPr>
              <a:t>Demo in class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40" name="CustomShape 13"/>
          <p:cNvSpPr/>
          <p:nvPr/>
        </p:nvSpPr>
        <p:spPr>
          <a:xfrm>
            <a:off x="6420240" y="2426400"/>
            <a:ext cx="2627640" cy="1916280"/>
          </a:xfrm>
          <a:prstGeom prst="ellipse">
            <a:avLst/>
          </a:prstGeom>
          <a:solidFill>
            <a:srgbClr val="e6e6ff"/>
          </a:solidFill>
          <a:ln w="9360">
            <a:solidFill>
              <a:srgbClr val="99ff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Line 5"/>
          <p:cNvSpPr/>
          <p:nvPr/>
        </p:nvSpPr>
        <p:spPr>
          <a:xfrm flipH="1">
            <a:off x="2953800" y="3429000"/>
            <a:ext cx="932400" cy="360"/>
          </a:xfrm>
          <a:prstGeom prst="line">
            <a:avLst/>
          </a:prstGeom>
          <a:ln w="50760">
            <a:solidFill>
              <a:srgbClr val="ff0033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Line 14"/>
          <p:cNvSpPr/>
          <p:nvPr/>
        </p:nvSpPr>
        <p:spPr>
          <a:xfrm>
            <a:off x="3888000" y="2971800"/>
            <a:ext cx="360" cy="914400"/>
          </a:xfrm>
          <a:prstGeom prst="line">
            <a:avLst/>
          </a:prstGeom>
          <a:ln w="50760">
            <a:solidFill>
              <a:srgbClr val="ff0033"/>
            </a:solidFill>
            <a:miter/>
          </a:ln>
        </p:spPr>
        <p:style>
          <a:lnRef idx="0"/>
          <a:fillRef idx="0"/>
          <a:effectRef idx="0"/>
          <a:fontRef idx="minor"/>
        </p:style>
      </p:sp>
      <p:pic>
        <p:nvPicPr>
          <p:cNvPr id="143" name="Picture 3" descr=""/>
          <p:cNvPicPr/>
          <p:nvPr/>
        </p:nvPicPr>
        <p:blipFill>
          <a:blip r:embed="rId1"/>
          <a:stretch/>
        </p:blipFill>
        <p:spPr>
          <a:xfrm>
            <a:off x="2440800" y="3048840"/>
            <a:ext cx="740880" cy="775080"/>
          </a:xfrm>
          <a:prstGeom prst="rect">
            <a:avLst/>
          </a:prstGeom>
          <a:ln w="0">
            <a:noFill/>
          </a:ln>
        </p:spPr>
      </p:pic>
      <p:pic>
        <p:nvPicPr>
          <p:cNvPr id="144" name="Picture 5" descr=""/>
          <p:cNvPicPr/>
          <p:nvPr/>
        </p:nvPicPr>
        <p:blipFill>
          <a:blip r:embed="rId2"/>
          <a:stretch/>
        </p:blipFill>
        <p:spPr>
          <a:xfrm flipH="1">
            <a:off x="1829520" y="3233520"/>
            <a:ext cx="578880" cy="718200"/>
          </a:xfrm>
          <a:prstGeom prst="rect">
            <a:avLst/>
          </a:prstGeom>
          <a:ln w="0">
            <a:noFill/>
          </a:ln>
        </p:spPr>
      </p:pic>
      <p:sp>
        <p:nvSpPr>
          <p:cNvPr id="145" name="Line 1"/>
          <p:cNvSpPr/>
          <p:nvPr/>
        </p:nvSpPr>
        <p:spPr>
          <a:xfrm flipH="1">
            <a:off x="3868200" y="2971800"/>
            <a:ext cx="932400" cy="360"/>
          </a:xfrm>
          <a:prstGeom prst="line">
            <a:avLst/>
          </a:prstGeom>
          <a:ln w="50760">
            <a:solidFill>
              <a:srgbClr val="ff0033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46" name="Line 2"/>
          <p:cNvSpPr/>
          <p:nvPr/>
        </p:nvSpPr>
        <p:spPr>
          <a:xfrm flipH="1">
            <a:off x="3868200" y="3871800"/>
            <a:ext cx="932400" cy="360"/>
          </a:xfrm>
          <a:prstGeom prst="line">
            <a:avLst/>
          </a:prstGeom>
          <a:ln w="50760">
            <a:solidFill>
              <a:srgbClr val="ff0033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47" name="Line 3"/>
          <p:cNvSpPr/>
          <p:nvPr/>
        </p:nvSpPr>
        <p:spPr>
          <a:xfrm flipH="1">
            <a:off x="6076800" y="3429000"/>
            <a:ext cx="1245600" cy="360"/>
          </a:xfrm>
          <a:prstGeom prst="line">
            <a:avLst/>
          </a:prstGeom>
          <a:ln w="50760">
            <a:solidFill>
              <a:srgbClr val="ff0033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48" name="Line 13"/>
          <p:cNvSpPr/>
          <p:nvPr/>
        </p:nvSpPr>
        <p:spPr>
          <a:xfrm>
            <a:off x="6076800" y="2971800"/>
            <a:ext cx="360" cy="914400"/>
          </a:xfrm>
          <a:prstGeom prst="line">
            <a:avLst/>
          </a:prstGeom>
          <a:ln w="50760">
            <a:solidFill>
              <a:srgbClr val="ff0033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49" name="Line 15"/>
          <p:cNvSpPr/>
          <p:nvPr/>
        </p:nvSpPr>
        <p:spPr>
          <a:xfrm flipH="1">
            <a:off x="5144400" y="2971800"/>
            <a:ext cx="932400" cy="360"/>
          </a:xfrm>
          <a:prstGeom prst="line">
            <a:avLst/>
          </a:prstGeom>
          <a:ln w="50760">
            <a:solidFill>
              <a:srgbClr val="ff0033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50" name="Line 17"/>
          <p:cNvSpPr/>
          <p:nvPr/>
        </p:nvSpPr>
        <p:spPr>
          <a:xfrm flipH="1">
            <a:off x="5144400" y="3871800"/>
            <a:ext cx="932400" cy="360"/>
          </a:xfrm>
          <a:prstGeom prst="line">
            <a:avLst/>
          </a:prstGeom>
          <a:ln w="50760">
            <a:solidFill>
              <a:srgbClr val="ff0033"/>
            </a:solidFill>
            <a:miter/>
          </a:ln>
        </p:spPr>
        <p:style>
          <a:lnRef idx="0"/>
          <a:fillRef idx="0"/>
          <a:effectRef idx="0"/>
          <a:fontRef idx="minor"/>
        </p:style>
      </p:sp>
      <p:pic>
        <p:nvPicPr>
          <p:cNvPr id="151" name="" descr=""/>
          <p:cNvPicPr/>
          <p:nvPr/>
        </p:nvPicPr>
        <p:blipFill>
          <a:blip r:embed="rId3"/>
          <a:stretch/>
        </p:blipFill>
        <p:spPr>
          <a:xfrm>
            <a:off x="4572360" y="2743560"/>
            <a:ext cx="684360" cy="472680"/>
          </a:xfrm>
          <a:prstGeom prst="rect">
            <a:avLst/>
          </a:prstGeom>
          <a:ln w="0">
            <a:noFill/>
          </a:ln>
        </p:spPr>
      </p:pic>
      <p:pic>
        <p:nvPicPr>
          <p:cNvPr id="152" name="" descr=""/>
          <p:cNvPicPr/>
          <p:nvPr/>
        </p:nvPicPr>
        <p:blipFill>
          <a:blip r:embed="rId4"/>
          <a:stretch/>
        </p:blipFill>
        <p:spPr>
          <a:xfrm>
            <a:off x="4572360" y="3641760"/>
            <a:ext cx="684360" cy="472680"/>
          </a:xfrm>
          <a:prstGeom prst="rect">
            <a:avLst/>
          </a:prstGeom>
          <a:ln w="0">
            <a:noFill/>
          </a:ln>
        </p:spPr>
      </p:pic>
      <p:pic>
        <p:nvPicPr>
          <p:cNvPr id="153" name="Picture 6" descr=""/>
          <p:cNvPicPr/>
          <p:nvPr/>
        </p:nvPicPr>
        <p:blipFill>
          <a:blip r:embed="rId5"/>
          <a:stretch/>
        </p:blipFill>
        <p:spPr>
          <a:xfrm>
            <a:off x="6991200" y="2743920"/>
            <a:ext cx="1370880" cy="1370160"/>
          </a:xfrm>
          <a:prstGeom prst="rect">
            <a:avLst/>
          </a:prstGeom>
          <a:ln w="0">
            <a:noFill/>
          </a:ln>
        </p:spPr>
      </p:pic>
      <p:sp>
        <p:nvSpPr>
          <p:cNvPr id="154" name="CustomShape 14"/>
          <p:cNvSpPr/>
          <p:nvPr/>
        </p:nvSpPr>
        <p:spPr>
          <a:xfrm>
            <a:off x="6422760" y="4478400"/>
            <a:ext cx="2627640" cy="1916280"/>
          </a:xfrm>
          <a:prstGeom prst="ellipse">
            <a:avLst/>
          </a:prstGeom>
          <a:solidFill>
            <a:srgbClr val="e6e6ff"/>
          </a:solidFill>
          <a:ln w="9360">
            <a:solidFill>
              <a:srgbClr val="99ff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5" name="Line 4"/>
          <p:cNvSpPr/>
          <p:nvPr/>
        </p:nvSpPr>
        <p:spPr>
          <a:xfrm flipH="1">
            <a:off x="2956320" y="5481000"/>
            <a:ext cx="932400" cy="360"/>
          </a:xfrm>
          <a:prstGeom prst="line">
            <a:avLst/>
          </a:prstGeom>
          <a:ln w="50760">
            <a:solidFill>
              <a:srgbClr val="ff0033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56" name="Line 6"/>
          <p:cNvSpPr/>
          <p:nvPr/>
        </p:nvSpPr>
        <p:spPr>
          <a:xfrm>
            <a:off x="3890520" y="5023800"/>
            <a:ext cx="360" cy="914400"/>
          </a:xfrm>
          <a:prstGeom prst="line">
            <a:avLst/>
          </a:prstGeom>
          <a:ln w="50760">
            <a:solidFill>
              <a:srgbClr val="ff0033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57" name="Line 7"/>
          <p:cNvSpPr/>
          <p:nvPr/>
        </p:nvSpPr>
        <p:spPr>
          <a:xfrm flipH="1">
            <a:off x="3870720" y="5023800"/>
            <a:ext cx="932400" cy="360"/>
          </a:xfrm>
          <a:prstGeom prst="line">
            <a:avLst/>
          </a:prstGeom>
          <a:ln w="50760">
            <a:solidFill>
              <a:srgbClr val="ff0033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58" name="Line 8"/>
          <p:cNvSpPr/>
          <p:nvPr/>
        </p:nvSpPr>
        <p:spPr>
          <a:xfrm flipH="1">
            <a:off x="3870720" y="5923800"/>
            <a:ext cx="932400" cy="360"/>
          </a:xfrm>
          <a:prstGeom prst="line">
            <a:avLst/>
          </a:prstGeom>
          <a:ln w="50760">
            <a:solidFill>
              <a:srgbClr val="ff0033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Line 9"/>
          <p:cNvSpPr/>
          <p:nvPr/>
        </p:nvSpPr>
        <p:spPr>
          <a:xfrm flipH="1">
            <a:off x="6079320" y="5481000"/>
            <a:ext cx="1245600" cy="360"/>
          </a:xfrm>
          <a:prstGeom prst="line">
            <a:avLst/>
          </a:prstGeom>
          <a:ln w="50760">
            <a:solidFill>
              <a:srgbClr val="ff0033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60" name="Line 10"/>
          <p:cNvSpPr/>
          <p:nvPr/>
        </p:nvSpPr>
        <p:spPr>
          <a:xfrm>
            <a:off x="6079320" y="5023800"/>
            <a:ext cx="360" cy="914400"/>
          </a:xfrm>
          <a:prstGeom prst="line">
            <a:avLst/>
          </a:prstGeom>
          <a:ln w="50760">
            <a:solidFill>
              <a:srgbClr val="ff0033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61" name="Line 11"/>
          <p:cNvSpPr/>
          <p:nvPr/>
        </p:nvSpPr>
        <p:spPr>
          <a:xfrm flipH="1">
            <a:off x="5146920" y="5023800"/>
            <a:ext cx="932400" cy="360"/>
          </a:xfrm>
          <a:prstGeom prst="line">
            <a:avLst/>
          </a:prstGeom>
          <a:ln w="50760">
            <a:solidFill>
              <a:srgbClr val="ff0033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62" name="Line 12"/>
          <p:cNvSpPr/>
          <p:nvPr/>
        </p:nvSpPr>
        <p:spPr>
          <a:xfrm flipH="1">
            <a:off x="5146920" y="5923800"/>
            <a:ext cx="932400" cy="360"/>
          </a:xfrm>
          <a:prstGeom prst="line">
            <a:avLst/>
          </a:prstGeom>
          <a:ln w="50760">
            <a:solidFill>
              <a:srgbClr val="ff0033"/>
            </a:solidFill>
            <a:miter/>
          </a:ln>
        </p:spPr>
        <p:style>
          <a:lnRef idx="0"/>
          <a:fillRef idx="0"/>
          <a:effectRef idx="0"/>
          <a:fontRef idx="minor"/>
        </p:style>
      </p:sp>
      <p:pic>
        <p:nvPicPr>
          <p:cNvPr id="163" name="" descr=""/>
          <p:cNvPicPr/>
          <p:nvPr/>
        </p:nvPicPr>
        <p:blipFill>
          <a:blip r:embed="rId6"/>
          <a:stretch/>
        </p:blipFill>
        <p:spPr>
          <a:xfrm>
            <a:off x="4574880" y="4795560"/>
            <a:ext cx="684360" cy="472680"/>
          </a:xfrm>
          <a:prstGeom prst="rect">
            <a:avLst/>
          </a:prstGeom>
          <a:ln w="0">
            <a:noFill/>
          </a:ln>
        </p:spPr>
      </p:pic>
      <p:pic>
        <p:nvPicPr>
          <p:cNvPr id="164" name="" descr=""/>
          <p:cNvPicPr/>
          <p:nvPr/>
        </p:nvPicPr>
        <p:blipFill>
          <a:blip r:embed="rId7"/>
          <a:stretch/>
        </p:blipFill>
        <p:spPr>
          <a:xfrm>
            <a:off x="4574880" y="5693760"/>
            <a:ext cx="684360" cy="472680"/>
          </a:xfrm>
          <a:prstGeom prst="rect">
            <a:avLst/>
          </a:prstGeom>
          <a:ln w="0">
            <a:noFill/>
          </a:ln>
        </p:spPr>
      </p:pic>
      <p:pic>
        <p:nvPicPr>
          <p:cNvPr id="165" name="Picture 4" descr=""/>
          <p:cNvPicPr/>
          <p:nvPr/>
        </p:nvPicPr>
        <p:blipFill>
          <a:blip r:embed="rId8"/>
          <a:stretch/>
        </p:blipFill>
        <p:spPr>
          <a:xfrm>
            <a:off x="6993720" y="4795920"/>
            <a:ext cx="1370880" cy="1370160"/>
          </a:xfrm>
          <a:prstGeom prst="rect">
            <a:avLst/>
          </a:prstGeom>
          <a:ln w="0">
            <a:noFill/>
          </a:ln>
        </p:spPr>
      </p:pic>
      <p:pic>
        <p:nvPicPr>
          <p:cNvPr id="166" name="" descr=""/>
          <p:cNvPicPr/>
          <p:nvPr/>
        </p:nvPicPr>
        <p:blipFill>
          <a:blip r:embed="rId9"/>
          <a:stretch/>
        </p:blipFill>
        <p:spPr>
          <a:xfrm>
            <a:off x="3528720" y="5263920"/>
            <a:ext cx="684360" cy="472680"/>
          </a:xfrm>
          <a:prstGeom prst="rect">
            <a:avLst/>
          </a:prstGeom>
          <a:ln w="0">
            <a:noFill/>
          </a:ln>
        </p:spPr>
      </p:pic>
      <p:pic>
        <p:nvPicPr>
          <p:cNvPr id="167" name="Picture 1" descr=""/>
          <p:cNvPicPr/>
          <p:nvPr/>
        </p:nvPicPr>
        <p:blipFill>
          <a:blip r:embed="rId10"/>
          <a:stretch/>
        </p:blipFill>
        <p:spPr>
          <a:xfrm>
            <a:off x="2440800" y="5136840"/>
            <a:ext cx="740880" cy="775080"/>
          </a:xfrm>
          <a:prstGeom prst="rect">
            <a:avLst/>
          </a:prstGeom>
          <a:ln w="0">
            <a:noFill/>
          </a:ln>
        </p:spPr>
      </p:pic>
      <p:pic>
        <p:nvPicPr>
          <p:cNvPr id="168" name="Picture 2" descr=""/>
          <p:cNvPicPr/>
          <p:nvPr/>
        </p:nvPicPr>
        <p:blipFill>
          <a:blip r:embed="rId11"/>
          <a:stretch/>
        </p:blipFill>
        <p:spPr>
          <a:xfrm flipH="1">
            <a:off x="1829520" y="5321520"/>
            <a:ext cx="578880" cy="718200"/>
          </a:xfrm>
          <a:prstGeom prst="rect">
            <a:avLst/>
          </a:prstGeom>
          <a:ln w="0">
            <a:noFill/>
          </a:ln>
        </p:spPr>
      </p:pic>
      <p:sp>
        <p:nvSpPr>
          <p:cNvPr id="169" name="TextBox 4"/>
          <p:cNvSpPr/>
          <p:nvPr/>
        </p:nvSpPr>
        <p:spPr>
          <a:xfrm>
            <a:off x="3839760" y="3140280"/>
            <a:ext cx="1108800" cy="5799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marL="216000" indent="-216000" algn="ctr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Virtual IP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70" name="TextBox 5"/>
          <p:cNvSpPr/>
          <p:nvPr/>
        </p:nvSpPr>
        <p:spPr>
          <a:xfrm>
            <a:off x="3008160" y="5948280"/>
            <a:ext cx="1400760" cy="5799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marL="216000" indent="-216000" algn="ctr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Load</a:t>
            </a:r>
            <a:br>
              <a:rPr sz="1600"/>
            </a:b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Balancer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71" name=""/>
          <p:cNvSpPr/>
          <p:nvPr/>
        </p:nvSpPr>
        <p:spPr>
          <a:xfrm>
            <a:off x="2971800" y="4248000"/>
            <a:ext cx="87480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OR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CustomShape 7"/>
          <p:cNvSpPr/>
          <p:nvPr/>
        </p:nvSpPr>
        <p:spPr>
          <a:xfrm>
            <a:off x="640080" y="301320"/>
            <a:ext cx="8933760" cy="12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Demo redundant server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173" name="CustomShape 8"/>
          <p:cNvSpPr/>
          <p:nvPr/>
        </p:nvSpPr>
        <p:spPr>
          <a:xfrm>
            <a:off x="504000" y="1805040"/>
            <a:ext cx="9069840" cy="498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3640">
              <a:lnSpc>
                <a:spcPct val="100000"/>
              </a:lnSpc>
              <a:spcAft>
                <a:spcPts val="1417"/>
              </a:spcAft>
              <a:buClr>
                <a:srgbClr val="c4d82f"/>
              </a:buClr>
              <a:buFont typeface="Wingdings" charset="2"/>
              <a:buChar char="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NOT in packet tracer</a:t>
            </a:r>
            <a:endParaRPr b="0" lang="en-US" sz="24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Aft>
                <a:spcPts val="1417"/>
              </a:spcAft>
              <a:buClr>
                <a:srgbClr val="c4d82f"/>
              </a:buClr>
              <a:buFont typeface="Wingdings" charset="2"/>
              <a:buChar char="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Minimum setup: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417"/>
              </a:spcAft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34"/>
              </a:spcAft>
              <a:buNone/>
            </a:pPr>
            <a:endParaRPr b="0" lang="en-US" sz="2400" spc="-1" strike="noStrike">
              <a:latin typeface="Arial"/>
            </a:endParaRPr>
          </a:p>
        </p:txBody>
      </p:sp>
      <p:sp>
        <p:nvSpPr>
          <p:cNvPr id="174" name="CustomShape 9"/>
          <p:cNvSpPr/>
          <p:nvPr/>
        </p:nvSpPr>
        <p:spPr>
          <a:xfrm>
            <a:off x="7772400" y="110880"/>
            <a:ext cx="2135880" cy="43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0c2c80"/>
                </a:solidFill>
                <a:latin typeface="Times New Roman"/>
                <a:ea typeface="DejaVu Sans"/>
              </a:rPr>
              <a:t>Demo in class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75" name="Line 16"/>
          <p:cNvSpPr/>
          <p:nvPr/>
        </p:nvSpPr>
        <p:spPr>
          <a:xfrm flipH="1">
            <a:off x="3049200" y="3745800"/>
            <a:ext cx="932400" cy="360"/>
          </a:xfrm>
          <a:prstGeom prst="line">
            <a:avLst/>
          </a:prstGeom>
          <a:ln w="50760">
            <a:solidFill>
              <a:srgbClr val="ff0033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76" name="Line 18"/>
          <p:cNvSpPr/>
          <p:nvPr/>
        </p:nvSpPr>
        <p:spPr>
          <a:xfrm>
            <a:off x="3983400" y="3288600"/>
            <a:ext cx="360" cy="914400"/>
          </a:xfrm>
          <a:prstGeom prst="line">
            <a:avLst/>
          </a:prstGeom>
          <a:ln w="50760">
            <a:solidFill>
              <a:srgbClr val="ff0033"/>
            </a:solidFill>
            <a:miter/>
          </a:ln>
        </p:spPr>
        <p:style>
          <a:lnRef idx="0"/>
          <a:fillRef idx="0"/>
          <a:effectRef idx="0"/>
          <a:fontRef idx="minor"/>
        </p:style>
      </p:sp>
      <p:pic>
        <p:nvPicPr>
          <p:cNvPr id="177" name="Picture 7" descr=""/>
          <p:cNvPicPr/>
          <p:nvPr/>
        </p:nvPicPr>
        <p:blipFill>
          <a:blip r:embed="rId1"/>
          <a:stretch/>
        </p:blipFill>
        <p:spPr>
          <a:xfrm>
            <a:off x="2399400" y="3366720"/>
            <a:ext cx="793080" cy="826920"/>
          </a:xfrm>
          <a:prstGeom prst="rect">
            <a:avLst/>
          </a:prstGeom>
          <a:ln w="0">
            <a:noFill/>
          </a:ln>
        </p:spPr>
      </p:pic>
      <p:pic>
        <p:nvPicPr>
          <p:cNvPr id="178" name="Picture 8" descr=""/>
          <p:cNvPicPr/>
          <p:nvPr/>
        </p:nvPicPr>
        <p:blipFill>
          <a:blip r:embed="rId2"/>
          <a:stretch/>
        </p:blipFill>
        <p:spPr>
          <a:xfrm flipH="1">
            <a:off x="1744920" y="3563640"/>
            <a:ext cx="619560" cy="766440"/>
          </a:xfrm>
          <a:prstGeom prst="rect">
            <a:avLst/>
          </a:prstGeom>
          <a:ln w="0">
            <a:noFill/>
          </a:ln>
        </p:spPr>
      </p:pic>
      <p:sp>
        <p:nvSpPr>
          <p:cNvPr id="179" name="Line 19"/>
          <p:cNvSpPr/>
          <p:nvPr/>
        </p:nvSpPr>
        <p:spPr>
          <a:xfrm flipH="1">
            <a:off x="3963600" y="3288600"/>
            <a:ext cx="932400" cy="360"/>
          </a:xfrm>
          <a:prstGeom prst="line">
            <a:avLst/>
          </a:prstGeom>
          <a:ln w="50760">
            <a:solidFill>
              <a:srgbClr val="ff0033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80" name="Line 20"/>
          <p:cNvSpPr/>
          <p:nvPr/>
        </p:nvSpPr>
        <p:spPr>
          <a:xfrm flipH="1">
            <a:off x="3963600" y="4188600"/>
            <a:ext cx="932400" cy="360"/>
          </a:xfrm>
          <a:prstGeom prst="line">
            <a:avLst/>
          </a:prstGeom>
          <a:ln w="50760">
            <a:solidFill>
              <a:srgbClr val="ff0033"/>
            </a:solidFill>
            <a:miter/>
          </a:ln>
        </p:spPr>
        <p:style>
          <a:lnRef idx="0"/>
          <a:fillRef idx="0"/>
          <a:effectRef idx="0"/>
          <a:fontRef idx="minor"/>
        </p:style>
      </p:sp>
      <p:pic>
        <p:nvPicPr>
          <p:cNvPr id="181" name="Picture 9" descr=""/>
          <p:cNvPicPr/>
          <p:nvPr/>
        </p:nvPicPr>
        <p:blipFill>
          <a:blip r:embed="rId3"/>
          <a:stretch/>
        </p:blipFill>
        <p:spPr>
          <a:xfrm>
            <a:off x="4343400" y="2514600"/>
            <a:ext cx="914400" cy="913680"/>
          </a:xfrm>
          <a:prstGeom prst="rect">
            <a:avLst/>
          </a:prstGeom>
          <a:ln w="0">
            <a:noFill/>
          </a:ln>
        </p:spPr>
      </p:pic>
      <p:pic>
        <p:nvPicPr>
          <p:cNvPr id="182" name="Picture 10" descr=""/>
          <p:cNvPicPr/>
          <p:nvPr/>
        </p:nvPicPr>
        <p:blipFill>
          <a:blip r:embed="rId4"/>
          <a:stretch/>
        </p:blipFill>
        <p:spPr>
          <a:xfrm>
            <a:off x="4343760" y="3810960"/>
            <a:ext cx="913320" cy="912600"/>
          </a:xfrm>
          <a:prstGeom prst="rect">
            <a:avLst/>
          </a:prstGeom>
          <a:ln w="0">
            <a:noFill/>
          </a:ln>
        </p:spPr>
      </p:pic>
      <p:sp>
        <p:nvSpPr>
          <p:cNvPr id="183" name="Line 21"/>
          <p:cNvSpPr/>
          <p:nvPr/>
        </p:nvSpPr>
        <p:spPr>
          <a:xfrm>
            <a:off x="5099400" y="3288600"/>
            <a:ext cx="360" cy="914400"/>
          </a:xfrm>
          <a:prstGeom prst="line">
            <a:avLst/>
          </a:prstGeom>
          <a:ln w="50760">
            <a:solidFill>
              <a:srgbClr val="2a6099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84" name="TextBox 2"/>
          <p:cNvSpPr/>
          <p:nvPr/>
        </p:nvSpPr>
        <p:spPr>
          <a:xfrm>
            <a:off x="5099400" y="3320280"/>
            <a:ext cx="1108800" cy="336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marL="216000" indent="-216000" algn="ctr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Sync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85" name="Line 22"/>
          <p:cNvSpPr/>
          <p:nvPr/>
        </p:nvSpPr>
        <p:spPr>
          <a:xfrm flipH="1">
            <a:off x="3049560" y="6013800"/>
            <a:ext cx="932400" cy="360"/>
          </a:xfrm>
          <a:prstGeom prst="line">
            <a:avLst/>
          </a:prstGeom>
          <a:ln w="50760">
            <a:solidFill>
              <a:srgbClr val="ff0033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86" name="Line 23"/>
          <p:cNvSpPr/>
          <p:nvPr/>
        </p:nvSpPr>
        <p:spPr>
          <a:xfrm>
            <a:off x="3983760" y="5556600"/>
            <a:ext cx="360" cy="914400"/>
          </a:xfrm>
          <a:prstGeom prst="line">
            <a:avLst/>
          </a:prstGeom>
          <a:ln w="50760">
            <a:solidFill>
              <a:srgbClr val="ff0033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87" name="Line 24"/>
          <p:cNvSpPr/>
          <p:nvPr/>
        </p:nvSpPr>
        <p:spPr>
          <a:xfrm flipH="1">
            <a:off x="3963960" y="5556600"/>
            <a:ext cx="932400" cy="360"/>
          </a:xfrm>
          <a:prstGeom prst="line">
            <a:avLst/>
          </a:prstGeom>
          <a:ln w="50760">
            <a:solidFill>
              <a:srgbClr val="ff0033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88" name="Line 25"/>
          <p:cNvSpPr/>
          <p:nvPr/>
        </p:nvSpPr>
        <p:spPr>
          <a:xfrm flipH="1">
            <a:off x="3963960" y="6456600"/>
            <a:ext cx="932400" cy="360"/>
          </a:xfrm>
          <a:prstGeom prst="line">
            <a:avLst/>
          </a:prstGeom>
          <a:ln w="50760">
            <a:solidFill>
              <a:srgbClr val="ff0033"/>
            </a:solidFill>
            <a:miter/>
          </a:ln>
        </p:spPr>
        <p:style>
          <a:lnRef idx="0"/>
          <a:fillRef idx="0"/>
          <a:effectRef idx="0"/>
          <a:fontRef idx="minor"/>
        </p:style>
      </p:sp>
      <p:pic>
        <p:nvPicPr>
          <p:cNvPr id="189" name="" descr=""/>
          <p:cNvPicPr/>
          <p:nvPr/>
        </p:nvPicPr>
        <p:blipFill>
          <a:blip r:embed="rId5"/>
          <a:stretch/>
        </p:blipFill>
        <p:spPr>
          <a:xfrm>
            <a:off x="3621960" y="5796720"/>
            <a:ext cx="684360" cy="472680"/>
          </a:xfrm>
          <a:prstGeom prst="rect">
            <a:avLst/>
          </a:prstGeom>
          <a:ln w="0">
            <a:noFill/>
          </a:ln>
        </p:spPr>
      </p:pic>
      <p:sp>
        <p:nvSpPr>
          <p:cNvPr id="190" name="Line 26"/>
          <p:cNvSpPr/>
          <p:nvPr/>
        </p:nvSpPr>
        <p:spPr>
          <a:xfrm>
            <a:off x="5171760" y="5556600"/>
            <a:ext cx="856440" cy="327600"/>
          </a:xfrm>
          <a:prstGeom prst="line">
            <a:avLst/>
          </a:prstGeom>
          <a:ln w="50760">
            <a:solidFill>
              <a:srgbClr val="2a6099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91" name="Line 27"/>
          <p:cNvSpPr/>
          <p:nvPr/>
        </p:nvSpPr>
        <p:spPr>
          <a:xfrm flipV="1">
            <a:off x="5171760" y="6112800"/>
            <a:ext cx="1085040" cy="457200"/>
          </a:xfrm>
          <a:prstGeom prst="line">
            <a:avLst/>
          </a:prstGeom>
          <a:ln w="50760">
            <a:solidFill>
              <a:srgbClr val="2a6099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92" name=""/>
          <p:cNvSpPr/>
          <p:nvPr/>
        </p:nvSpPr>
        <p:spPr>
          <a:xfrm>
            <a:off x="5571360" y="5884200"/>
            <a:ext cx="1370880" cy="456120"/>
          </a:xfrm>
          <a:prstGeom prst="can">
            <a:avLst>
              <a:gd name="adj" fmla="val 25000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nl-BE" sz="1800" spc="-1" strike="noStrike">
                <a:solidFill>
                  <a:srgbClr val="000000"/>
                </a:solidFill>
                <a:latin typeface="Arial"/>
                <a:ea typeface="DejaVu Sans"/>
              </a:rPr>
              <a:t>Storage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193" name="Picture 13" descr=""/>
          <p:cNvPicPr/>
          <p:nvPr/>
        </p:nvPicPr>
        <p:blipFill>
          <a:blip r:embed="rId6"/>
          <a:stretch/>
        </p:blipFill>
        <p:spPr>
          <a:xfrm>
            <a:off x="4343400" y="4998600"/>
            <a:ext cx="914400" cy="913680"/>
          </a:xfrm>
          <a:prstGeom prst="rect">
            <a:avLst/>
          </a:prstGeom>
          <a:ln w="0">
            <a:noFill/>
          </a:ln>
        </p:spPr>
      </p:pic>
      <p:pic>
        <p:nvPicPr>
          <p:cNvPr id="194" name="Picture 14" descr=""/>
          <p:cNvPicPr/>
          <p:nvPr/>
        </p:nvPicPr>
        <p:blipFill>
          <a:blip r:embed="rId7"/>
          <a:stretch/>
        </p:blipFill>
        <p:spPr>
          <a:xfrm>
            <a:off x="4343760" y="6294960"/>
            <a:ext cx="913320" cy="912600"/>
          </a:xfrm>
          <a:prstGeom prst="rect">
            <a:avLst/>
          </a:prstGeom>
          <a:ln w="0">
            <a:noFill/>
          </a:ln>
        </p:spPr>
      </p:pic>
      <p:sp>
        <p:nvSpPr>
          <p:cNvPr id="195" name="TextBox 1"/>
          <p:cNvSpPr/>
          <p:nvPr/>
        </p:nvSpPr>
        <p:spPr>
          <a:xfrm>
            <a:off x="3695400" y="3392280"/>
            <a:ext cx="1108800" cy="5799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marL="216000" indent="-216000" algn="ctr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Virtual IP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96" name="TextBox 3"/>
          <p:cNvSpPr/>
          <p:nvPr/>
        </p:nvSpPr>
        <p:spPr>
          <a:xfrm>
            <a:off x="2971800" y="6416280"/>
            <a:ext cx="1400760" cy="5799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marL="216000" indent="-216000" algn="ctr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Load</a:t>
            </a:r>
            <a:br>
              <a:rPr sz="1600"/>
            </a:b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Balancer</a:t>
            </a:r>
            <a:endParaRPr b="0" lang="en-US" sz="1600" spc="-1" strike="noStrike">
              <a:latin typeface="Arial"/>
            </a:endParaRPr>
          </a:p>
        </p:txBody>
      </p:sp>
      <p:pic>
        <p:nvPicPr>
          <p:cNvPr id="197" name="Picture 11" descr=""/>
          <p:cNvPicPr/>
          <p:nvPr/>
        </p:nvPicPr>
        <p:blipFill>
          <a:blip r:embed="rId8"/>
          <a:stretch/>
        </p:blipFill>
        <p:spPr>
          <a:xfrm>
            <a:off x="2399760" y="5670720"/>
            <a:ext cx="793080" cy="826920"/>
          </a:xfrm>
          <a:prstGeom prst="rect">
            <a:avLst/>
          </a:prstGeom>
          <a:ln w="0">
            <a:noFill/>
          </a:ln>
        </p:spPr>
      </p:pic>
      <p:pic>
        <p:nvPicPr>
          <p:cNvPr id="198" name="Picture 12" descr=""/>
          <p:cNvPicPr/>
          <p:nvPr/>
        </p:nvPicPr>
        <p:blipFill>
          <a:blip r:embed="rId9"/>
          <a:stretch/>
        </p:blipFill>
        <p:spPr>
          <a:xfrm flipH="1">
            <a:off x="1745280" y="5867640"/>
            <a:ext cx="619560" cy="766440"/>
          </a:xfrm>
          <a:prstGeom prst="rect">
            <a:avLst/>
          </a:prstGeom>
          <a:ln w="0">
            <a:noFill/>
          </a:ln>
        </p:spPr>
      </p:pic>
      <p:sp>
        <p:nvSpPr>
          <p:cNvPr id="199" name=""/>
          <p:cNvSpPr/>
          <p:nvPr/>
        </p:nvSpPr>
        <p:spPr>
          <a:xfrm>
            <a:off x="2971800" y="4572000"/>
            <a:ext cx="87480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OR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CustomShape 4"/>
          <p:cNvSpPr/>
          <p:nvPr/>
        </p:nvSpPr>
        <p:spPr>
          <a:xfrm>
            <a:off x="640080" y="301320"/>
            <a:ext cx="8933760" cy="12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Demo VPN solution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201" name="CustomShape 5"/>
          <p:cNvSpPr/>
          <p:nvPr/>
        </p:nvSpPr>
        <p:spPr>
          <a:xfrm>
            <a:off x="504000" y="1805040"/>
            <a:ext cx="9069840" cy="498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3640">
              <a:lnSpc>
                <a:spcPct val="100000"/>
              </a:lnSpc>
              <a:spcAft>
                <a:spcPts val="1417"/>
              </a:spcAft>
              <a:buClr>
                <a:srgbClr val="c4d82f"/>
              </a:buClr>
              <a:buFont typeface="Wingdings" charset="2"/>
              <a:buChar char="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NOT in Packet Tracer</a:t>
            </a:r>
            <a:endParaRPr b="0" lang="en-US" sz="24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Aft>
                <a:spcPts val="1417"/>
              </a:spcAft>
              <a:buClr>
                <a:srgbClr val="c4d82f"/>
              </a:buClr>
              <a:buFont typeface="Wingdings" charset="2"/>
              <a:buChar char="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Minimum setup:</a:t>
            </a:r>
            <a:endParaRPr b="0" lang="en-US" sz="2400" spc="-1" strike="noStrike">
              <a:latin typeface="Arial"/>
            </a:endParaRPr>
          </a:p>
          <a:p>
            <a:pPr lvl="1" marL="432000" indent="-216000">
              <a:lnSpc>
                <a:spcPct val="100000"/>
              </a:lnSpc>
              <a:spcAft>
                <a:spcPts val="141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Not only the tunnel, also connection to internal server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417"/>
              </a:spcAft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417"/>
              </a:spcAft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34"/>
              </a:spcAft>
              <a:buNone/>
            </a:pPr>
            <a:endParaRPr b="0" lang="en-US" sz="2400" spc="-1" strike="noStrike">
              <a:latin typeface="Arial"/>
            </a:endParaRPr>
          </a:p>
        </p:txBody>
      </p:sp>
      <p:sp>
        <p:nvSpPr>
          <p:cNvPr id="202" name="CustomShape 6"/>
          <p:cNvSpPr/>
          <p:nvPr/>
        </p:nvSpPr>
        <p:spPr>
          <a:xfrm>
            <a:off x="7772400" y="110880"/>
            <a:ext cx="2135880" cy="43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0c2c80"/>
                </a:solidFill>
                <a:latin typeface="Times New Roman"/>
                <a:ea typeface="DejaVu Sans"/>
              </a:rPr>
              <a:t>Demo in class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03" name="CustomShape 15"/>
          <p:cNvSpPr/>
          <p:nvPr/>
        </p:nvSpPr>
        <p:spPr>
          <a:xfrm>
            <a:off x="5261040" y="4110480"/>
            <a:ext cx="2627640" cy="1916280"/>
          </a:xfrm>
          <a:prstGeom prst="ellipse">
            <a:avLst/>
          </a:prstGeom>
          <a:solidFill>
            <a:srgbClr val="e6e6ff"/>
          </a:solidFill>
          <a:ln w="9360">
            <a:solidFill>
              <a:srgbClr val="99ff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4" name="Line 28"/>
          <p:cNvSpPr/>
          <p:nvPr/>
        </p:nvSpPr>
        <p:spPr>
          <a:xfrm flipH="1">
            <a:off x="2956320" y="4872600"/>
            <a:ext cx="2072880" cy="360"/>
          </a:xfrm>
          <a:prstGeom prst="line">
            <a:avLst/>
          </a:prstGeom>
          <a:ln w="50760">
            <a:solidFill>
              <a:srgbClr val="ff0033"/>
            </a:solidFill>
            <a:miter/>
          </a:ln>
        </p:spPr>
        <p:style>
          <a:lnRef idx="0"/>
          <a:fillRef idx="0"/>
          <a:effectRef idx="0"/>
          <a:fontRef idx="minor"/>
        </p:style>
      </p:sp>
      <p:pic>
        <p:nvPicPr>
          <p:cNvPr id="205" name="Picture 15" descr=""/>
          <p:cNvPicPr/>
          <p:nvPr/>
        </p:nvPicPr>
        <p:blipFill>
          <a:blip r:embed="rId1"/>
          <a:stretch/>
        </p:blipFill>
        <p:spPr>
          <a:xfrm>
            <a:off x="2443320" y="4524840"/>
            <a:ext cx="740880" cy="775080"/>
          </a:xfrm>
          <a:prstGeom prst="rect">
            <a:avLst/>
          </a:prstGeom>
          <a:ln w="0">
            <a:noFill/>
          </a:ln>
        </p:spPr>
      </p:pic>
      <p:pic>
        <p:nvPicPr>
          <p:cNvPr id="206" name="Picture 16" descr=""/>
          <p:cNvPicPr/>
          <p:nvPr/>
        </p:nvPicPr>
        <p:blipFill>
          <a:blip r:embed="rId2"/>
          <a:stretch/>
        </p:blipFill>
        <p:spPr>
          <a:xfrm flipH="1">
            <a:off x="1832040" y="4709520"/>
            <a:ext cx="578880" cy="718200"/>
          </a:xfrm>
          <a:prstGeom prst="rect">
            <a:avLst/>
          </a:prstGeom>
          <a:ln w="0">
            <a:noFill/>
          </a:ln>
        </p:spPr>
      </p:pic>
      <p:sp>
        <p:nvSpPr>
          <p:cNvPr id="207" name="Line 32"/>
          <p:cNvSpPr/>
          <p:nvPr/>
        </p:nvSpPr>
        <p:spPr>
          <a:xfrm flipH="1">
            <a:off x="5683320" y="4905000"/>
            <a:ext cx="952920" cy="360"/>
          </a:xfrm>
          <a:prstGeom prst="line">
            <a:avLst/>
          </a:prstGeom>
          <a:ln w="50760">
            <a:solidFill>
              <a:srgbClr val="ff0033"/>
            </a:solidFill>
            <a:miter/>
          </a:ln>
        </p:spPr>
        <p:style>
          <a:lnRef idx="0"/>
          <a:fillRef idx="0"/>
          <a:effectRef idx="0"/>
          <a:fontRef idx="minor"/>
        </p:style>
      </p:sp>
      <p:pic>
        <p:nvPicPr>
          <p:cNvPr id="208" name="Picture 17" descr=""/>
          <p:cNvPicPr/>
          <p:nvPr/>
        </p:nvPicPr>
        <p:blipFill>
          <a:blip r:embed="rId3"/>
          <a:stretch/>
        </p:blipFill>
        <p:spPr>
          <a:xfrm>
            <a:off x="6382800" y="4447800"/>
            <a:ext cx="820080" cy="842760"/>
          </a:xfrm>
          <a:prstGeom prst="rect">
            <a:avLst/>
          </a:prstGeom>
          <a:ln w="0">
            <a:noFill/>
          </a:ln>
        </p:spPr>
      </p:pic>
      <p:sp>
        <p:nvSpPr>
          <p:cNvPr id="209" name="TextBox 6"/>
          <p:cNvSpPr/>
          <p:nvPr/>
        </p:nvSpPr>
        <p:spPr>
          <a:xfrm>
            <a:off x="4457880" y="4114800"/>
            <a:ext cx="1566000" cy="5799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marL="216000" indent="-216000" algn="ctr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VPN</a:t>
            </a:r>
            <a:br>
              <a:rPr sz="1600"/>
            </a:b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concentrator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10" name="TextBox 7"/>
          <p:cNvSpPr/>
          <p:nvPr/>
        </p:nvSpPr>
        <p:spPr>
          <a:xfrm>
            <a:off x="3090240" y="4222800"/>
            <a:ext cx="1566000" cy="5799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marL="216000" indent="-216000" algn="ctr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600" spc="-1" strike="noStrike">
                <a:solidFill>
                  <a:srgbClr val="2a6099"/>
                </a:solidFill>
                <a:latin typeface="Arial"/>
                <a:ea typeface="DejaVu Sans"/>
              </a:rPr>
              <a:t>VPN</a:t>
            </a:r>
            <a:br>
              <a:rPr sz="1600"/>
            </a:br>
            <a:r>
              <a:rPr b="1" lang="en-US" sz="1600" spc="-1" strike="noStrike">
                <a:solidFill>
                  <a:srgbClr val="2a6099"/>
                </a:solidFill>
                <a:latin typeface="Arial"/>
                <a:ea typeface="DejaVu Sans"/>
              </a:rPr>
              <a:t>tunnel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11" name="TextBox 8"/>
          <p:cNvSpPr/>
          <p:nvPr/>
        </p:nvSpPr>
        <p:spPr>
          <a:xfrm>
            <a:off x="1542600" y="5410800"/>
            <a:ext cx="1566000" cy="5799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marL="216000" indent="-216000" algn="ctr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VPN</a:t>
            </a:r>
            <a:br>
              <a:rPr sz="1600"/>
            </a:b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client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12" name="Line 29"/>
          <p:cNvSpPr/>
          <p:nvPr/>
        </p:nvSpPr>
        <p:spPr>
          <a:xfrm flipH="1">
            <a:off x="2956320" y="4800600"/>
            <a:ext cx="2072880" cy="360"/>
          </a:xfrm>
          <a:prstGeom prst="line">
            <a:avLst/>
          </a:prstGeom>
          <a:ln w="50760">
            <a:solidFill>
              <a:srgbClr val="2a6099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13" name="Line 30"/>
          <p:cNvSpPr/>
          <p:nvPr/>
        </p:nvSpPr>
        <p:spPr>
          <a:xfrm flipH="1">
            <a:off x="2956320" y="4944600"/>
            <a:ext cx="2072880" cy="360"/>
          </a:xfrm>
          <a:prstGeom prst="line">
            <a:avLst/>
          </a:prstGeom>
          <a:ln w="50760">
            <a:solidFill>
              <a:srgbClr val="2a6099"/>
            </a:solidFill>
            <a:miter/>
          </a:ln>
        </p:spPr>
        <p:style>
          <a:lnRef idx="0"/>
          <a:fillRef idx="0"/>
          <a:effectRef idx="0"/>
          <a:fontRef idx="minor"/>
        </p:style>
      </p:sp>
      <p:pic>
        <p:nvPicPr>
          <p:cNvPr id="214" name="" descr=""/>
          <p:cNvPicPr/>
          <p:nvPr/>
        </p:nvPicPr>
        <p:blipFill>
          <a:blip r:embed="rId4"/>
          <a:stretch/>
        </p:blipFill>
        <p:spPr>
          <a:xfrm>
            <a:off x="4908240" y="4676400"/>
            <a:ext cx="923400" cy="637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CustomShape 1"/>
          <p:cNvSpPr/>
          <p:nvPr/>
        </p:nvSpPr>
        <p:spPr>
          <a:xfrm>
            <a:off x="640080" y="301320"/>
            <a:ext cx="8933760" cy="12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Documentation overview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216" name="CustomShape 2"/>
          <p:cNvSpPr/>
          <p:nvPr/>
        </p:nvSpPr>
        <p:spPr>
          <a:xfrm>
            <a:off x="7406640" y="110880"/>
            <a:ext cx="2358360" cy="43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0c2c80"/>
                </a:solidFill>
                <a:latin typeface="Times New Roman"/>
                <a:ea typeface="DejaVu Sans"/>
              </a:rPr>
              <a:t>Documentation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17" name="CustomShape 3"/>
          <p:cNvSpPr/>
          <p:nvPr/>
        </p:nvSpPr>
        <p:spPr>
          <a:xfrm>
            <a:off x="504000" y="1769040"/>
            <a:ext cx="9069840" cy="498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3640">
              <a:lnSpc>
                <a:spcPct val="100000"/>
              </a:lnSpc>
              <a:spcAft>
                <a:spcPts val="1417"/>
              </a:spcAft>
              <a:buClr>
                <a:srgbClr val="c4d82f"/>
              </a:buClr>
              <a:buFont typeface="Wingdings" charset="2"/>
              <a:buChar char="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Choose a company (as real as possible)</a:t>
            </a:r>
            <a:endParaRPr b="0" lang="en-US" sz="24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Aft>
                <a:spcPts val="1134"/>
              </a:spcAft>
              <a:buClr>
                <a:srgbClr val="0c2c80"/>
              </a:buClr>
              <a:buSzPct val="60000"/>
              <a:buFont typeface="Wingdings" charset="2"/>
              <a:buChar char="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Network design</a:t>
            </a:r>
            <a:endParaRPr b="0" lang="en-US" sz="24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Aft>
                <a:spcPts val="1134"/>
              </a:spcAft>
              <a:buClr>
                <a:srgbClr val="0c2c80"/>
              </a:buClr>
              <a:buSzPct val="60000"/>
              <a:buFont typeface="Wingdings" charset="2"/>
              <a:buChar char="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Naming/adressing: Logic/Enough</a:t>
            </a:r>
            <a:endParaRPr b="0" lang="en-US" sz="24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Aft>
                <a:spcPts val="1134"/>
              </a:spcAft>
              <a:buClr>
                <a:srgbClr val="0c2c80"/>
              </a:buClr>
              <a:buSzPct val="60000"/>
              <a:buFont typeface="Wingdings" charset="2"/>
              <a:buChar char="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LAN servers DNS DHCP</a:t>
            </a:r>
            <a:endParaRPr b="0" lang="en-US" sz="24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Aft>
                <a:spcPts val="1134"/>
              </a:spcAft>
              <a:buClr>
                <a:srgbClr val="0c2c80"/>
              </a:buClr>
              <a:buSzPct val="60000"/>
              <a:buFont typeface="Wingdings" charset="2"/>
              <a:buChar char="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Firewall rules</a:t>
            </a:r>
            <a:endParaRPr b="0" lang="en-US" sz="24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Aft>
                <a:spcPts val="1134"/>
              </a:spcAft>
              <a:buClr>
                <a:srgbClr val="0c2c80"/>
              </a:buClr>
              <a:buSzPct val="60000"/>
              <a:buFont typeface="Wingdings" charset="2"/>
              <a:buChar char="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Redundant servers</a:t>
            </a:r>
            <a:endParaRPr b="0" lang="en-US" sz="24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Aft>
                <a:spcPts val="1134"/>
              </a:spcAft>
              <a:buClr>
                <a:srgbClr val="0c2c80"/>
              </a:buClr>
              <a:buSzPct val="60000"/>
              <a:buFont typeface="Wingdings" charset="2"/>
              <a:buChar char="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Redundant routers</a:t>
            </a:r>
            <a:endParaRPr b="0" lang="en-US" sz="24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Aft>
                <a:spcPts val="1134"/>
              </a:spcAft>
              <a:buClr>
                <a:srgbClr val="0c2c80"/>
              </a:buClr>
              <a:buSzPct val="60000"/>
              <a:buFont typeface="Wingdings" charset="2"/>
              <a:buChar char="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VPN solution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CustomShape 1"/>
          <p:cNvSpPr/>
          <p:nvPr/>
        </p:nvSpPr>
        <p:spPr>
          <a:xfrm>
            <a:off x="640080" y="301320"/>
            <a:ext cx="8933760" cy="12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Netwerkdesign global/DMZ/LAN</a:t>
            </a:r>
            <a:endParaRPr b="0" lang="en-US" sz="4000" spc="-1" strike="noStrike">
              <a:latin typeface="Arial"/>
            </a:endParaRPr>
          </a:p>
        </p:txBody>
      </p:sp>
      <p:pic>
        <p:nvPicPr>
          <p:cNvPr id="219" name="" descr=""/>
          <p:cNvPicPr/>
          <p:nvPr/>
        </p:nvPicPr>
        <p:blipFill>
          <a:blip r:embed="rId1"/>
          <a:stretch/>
        </p:blipFill>
        <p:spPr>
          <a:xfrm>
            <a:off x="731520" y="1737360"/>
            <a:ext cx="3215520" cy="2558520"/>
          </a:xfrm>
          <a:prstGeom prst="rect">
            <a:avLst/>
          </a:prstGeom>
          <a:ln w="0">
            <a:noFill/>
          </a:ln>
        </p:spPr>
      </p:pic>
      <p:pic>
        <p:nvPicPr>
          <p:cNvPr id="220" name="" descr=""/>
          <p:cNvPicPr/>
          <p:nvPr/>
        </p:nvPicPr>
        <p:blipFill>
          <a:blip r:embed="rId2"/>
          <a:stretch/>
        </p:blipFill>
        <p:spPr>
          <a:xfrm>
            <a:off x="5187600" y="2103120"/>
            <a:ext cx="3863160" cy="2003760"/>
          </a:xfrm>
          <a:prstGeom prst="rect">
            <a:avLst/>
          </a:prstGeom>
          <a:ln w="0">
            <a:noFill/>
          </a:ln>
        </p:spPr>
      </p:pic>
      <p:pic>
        <p:nvPicPr>
          <p:cNvPr id="221" name="" descr=""/>
          <p:cNvPicPr/>
          <p:nvPr/>
        </p:nvPicPr>
        <p:blipFill>
          <a:blip r:embed="rId3"/>
          <a:stretch/>
        </p:blipFill>
        <p:spPr>
          <a:xfrm>
            <a:off x="1188720" y="5029200"/>
            <a:ext cx="5484600" cy="2284200"/>
          </a:xfrm>
          <a:prstGeom prst="rect">
            <a:avLst/>
          </a:prstGeom>
          <a:ln w="0">
            <a:noFill/>
          </a:ln>
        </p:spPr>
      </p:pic>
      <p:sp>
        <p:nvSpPr>
          <p:cNvPr id="222" name="CustomShape 2"/>
          <p:cNvSpPr/>
          <p:nvPr/>
        </p:nvSpPr>
        <p:spPr>
          <a:xfrm>
            <a:off x="7772400" y="110880"/>
            <a:ext cx="1992600" cy="43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0c2c80"/>
                </a:solidFill>
                <a:latin typeface="Times New Roman"/>
                <a:ea typeface="DejaVu Sans"/>
              </a:rPr>
              <a:t>Documentatie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CustomShape 1"/>
          <p:cNvSpPr/>
          <p:nvPr/>
        </p:nvSpPr>
        <p:spPr>
          <a:xfrm>
            <a:off x="640080" y="301320"/>
            <a:ext cx="8933760" cy="12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Name/adressing</a:t>
            </a:r>
            <a:endParaRPr b="0" lang="en-US" sz="4000" spc="-1" strike="noStrike">
              <a:latin typeface="Arial"/>
            </a:endParaRPr>
          </a:p>
        </p:txBody>
      </p:sp>
      <p:graphicFrame>
        <p:nvGraphicFramePr>
          <p:cNvPr id="224" name="Table 2"/>
          <p:cNvGraphicFramePr/>
          <p:nvPr/>
        </p:nvGraphicFramePr>
        <p:xfrm>
          <a:off x="674640" y="1616760"/>
          <a:ext cx="7871400" cy="5252040"/>
        </p:xfrm>
        <a:graphic>
          <a:graphicData uri="http://schemas.openxmlformats.org/drawingml/2006/table">
            <a:tbl>
              <a:tblPr/>
              <a:tblGrid>
                <a:gridCol w="2643840"/>
                <a:gridCol w="2665080"/>
                <a:gridCol w="2562840"/>
              </a:tblGrid>
              <a:tr h="437400"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800" spc="-1" strike="noStrike">
                          <a:latin typeface="Arial"/>
                        </a:rPr>
                        <a:t>Router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800" spc="-1" strike="noStrike">
                          <a:latin typeface="Arial"/>
                        </a:rPr>
                        <a:t>Port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800" spc="-1" strike="noStrike">
                          <a:latin typeface="Arial"/>
                        </a:rPr>
                        <a:t>Ip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</a:tr>
              <a:tr h="437400"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latin typeface="Arial"/>
                        </a:rPr>
                        <a:t>InternetRouter1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latin typeface="Arial"/>
                        </a:rPr>
                        <a:t>FA0/0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latin typeface="Arial"/>
                        </a:rPr>
                        <a:t>10.10.1.1 255.255.0.0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437400">
                <a:tc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latin typeface="Arial"/>
                        </a:rPr>
                        <a:t>FA0/1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latin typeface="Arial"/>
                        </a:rPr>
                        <a:t>10.10.2.1 255.255.0.0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437400">
                <a:tc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latin typeface="Arial"/>
                        </a:rPr>
                        <a:t>FA0/2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latin typeface="Arial"/>
                        </a:rPr>
                        <a:t>10.10.3.1 255.255.0.0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437400">
                <a:tc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latin typeface="Arial"/>
                        </a:rPr>
                        <a:t>FA0/3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latin typeface="Arial"/>
                        </a:rPr>
                        <a:t>10.10.4.1 255.255.0.0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437400"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latin typeface="Arial"/>
                        </a:rPr>
                        <a:t>InternetRouter2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latin typeface="Arial"/>
                        </a:rPr>
                        <a:t>FA0/0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latin typeface="Arial"/>
                        </a:rPr>
                        <a:t>10.10.5.1 255.255.0.0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437400">
                <a:tc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latin typeface="Arial"/>
                        </a:rPr>
                        <a:t>FA0/1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latin typeface="Arial"/>
                        </a:rPr>
                        <a:t>10.10.6.1 255.255.0.0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437400">
                <a:tc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latin typeface="Arial"/>
                        </a:rPr>
                        <a:t>FA0/2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latin typeface="Arial"/>
                        </a:rPr>
                        <a:t>10.10.7.1 255.255.0.0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437400">
                <a:tc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latin typeface="Arial"/>
                        </a:rPr>
                        <a:t>FA0/3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latin typeface="Arial"/>
                        </a:rPr>
                        <a:t>10.10.8.1 255.255.0.0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437400"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800" spc="-1" strike="noStrike">
                          <a:latin typeface="Arial"/>
                        </a:rPr>
                        <a:t>Server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437400"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latin typeface="Arial"/>
                        </a:rPr>
                        <a:t>Mailserver1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latin typeface="Arial"/>
                        </a:rPr>
                        <a:t>FA0/1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latin typeface="Arial"/>
                        </a:rPr>
                        <a:t>10.10.20.1 255.255.0.0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441000"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latin typeface="Arial"/>
                        </a:rPr>
                        <a:t>Mailserver2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latin typeface="Arial"/>
                        </a:rPr>
                        <a:t>FA0/1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latin typeface="Arial"/>
                        </a:rPr>
                        <a:t>10.10.21.1 255.255.0.0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sp>
        <p:nvSpPr>
          <p:cNvPr id="225" name="CustomShape 3"/>
          <p:cNvSpPr/>
          <p:nvPr/>
        </p:nvSpPr>
        <p:spPr>
          <a:xfrm>
            <a:off x="7406640" y="110880"/>
            <a:ext cx="2358360" cy="43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0c2c80"/>
                </a:solidFill>
                <a:latin typeface="Times New Roman"/>
                <a:ea typeface="DejaVu Sans"/>
              </a:rPr>
              <a:t>Documentation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CustomShape 1"/>
          <p:cNvSpPr/>
          <p:nvPr/>
        </p:nvSpPr>
        <p:spPr>
          <a:xfrm>
            <a:off x="640080" y="301320"/>
            <a:ext cx="8933760" cy="12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LAN servers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227" name="CustomShape 2"/>
          <p:cNvSpPr/>
          <p:nvPr/>
        </p:nvSpPr>
        <p:spPr>
          <a:xfrm>
            <a:off x="504000" y="1769040"/>
            <a:ext cx="9069840" cy="498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3640">
              <a:lnSpc>
                <a:spcPct val="100000"/>
              </a:lnSpc>
              <a:spcAft>
                <a:spcPts val="1417"/>
              </a:spcAft>
              <a:buClr>
                <a:srgbClr val="c4d82f"/>
              </a:buClr>
              <a:buFont typeface="Wingdings" charset="2"/>
              <a:buChar char="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How do clients get IP adresses?</a:t>
            </a:r>
            <a:endParaRPr b="0" lang="en-US" sz="24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Aft>
                <a:spcPts val="1417"/>
              </a:spcAft>
              <a:buClr>
                <a:srgbClr val="c4d82f"/>
              </a:buClr>
              <a:buFont typeface="Wingdings" charset="2"/>
              <a:buChar char="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How can a client connect to internet?</a:t>
            </a:r>
            <a:endParaRPr b="0" lang="en-US" sz="24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Aft>
                <a:spcPts val="1417"/>
              </a:spcAft>
              <a:buClr>
                <a:srgbClr val="c4d82f"/>
              </a:buClr>
              <a:buFont typeface="Wingdings" charset="2"/>
              <a:buChar char="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DNS/DHCP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28" name="CustomShape 3"/>
          <p:cNvSpPr/>
          <p:nvPr/>
        </p:nvSpPr>
        <p:spPr>
          <a:xfrm>
            <a:off x="7406640" y="110880"/>
            <a:ext cx="2358360" cy="43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0c2c80"/>
                </a:solidFill>
                <a:latin typeface="Times New Roman"/>
                <a:ea typeface="DejaVu Sans"/>
              </a:rPr>
              <a:t>Documentation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CustomShape 1"/>
          <p:cNvSpPr/>
          <p:nvPr/>
        </p:nvSpPr>
        <p:spPr>
          <a:xfrm>
            <a:off x="640080" y="301320"/>
            <a:ext cx="8933760" cy="12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Firewall rules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230" name="CustomShape 2"/>
          <p:cNvSpPr/>
          <p:nvPr/>
        </p:nvSpPr>
        <p:spPr>
          <a:xfrm>
            <a:off x="504000" y="1769040"/>
            <a:ext cx="9069840" cy="498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3640">
              <a:lnSpc>
                <a:spcPct val="100000"/>
              </a:lnSpc>
              <a:spcAft>
                <a:spcPts val="1417"/>
              </a:spcAft>
              <a:buClr>
                <a:srgbClr val="c4d82f"/>
              </a:buClr>
              <a:buFont typeface="Wingdings" charset="2"/>
              <a:buChar char="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Choose two relevant routers to apply rules</a:t>
            </a:r>
            <a:endParaRPr b="0" lang="en-US" sz="24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Aft>
                <a:spcPts val="1134"/>
              </a:spcAft>
              <a:buClr>
                <a:srgbClr val="0c2c80"/>
              </a:buClr>
              <a:buSzPct val="60000"/>
              <a:buFont typeface="Wingdings" charset="2"/>
              <a:buChar char="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Ex</a:t>
            </a:r>
            <a:endParaRPr b="0" lang="en-US" sz="2400" spc="-1" strike="noStrike">
              <a:latin typeface="Arial"/>
            </a:endParaRPr>
          </a:p>
          <a:p>
            <a:pPr lvl="4" marL="1080000" indent="-216000">
              <a:lnSpc>
                <a:spcPct val="100000"/>
              </a:lnSpc>
              <a:spcAft>
                <a:spcPts val="113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DMZ – INTERNET</a:t>
            </a:r>
            <a:endParaRPr b="0" lang="en-US" sz="2400" spc="-1" strike="noStrike">
              <a:latin typeface="Arial"/>
            </a:endParaRPr>
          </a:p>
          <a:p>
            <a:pPr lvl="4" marL="1080000" indent="-216000">
              <a:lnSpc>
                <a:spcPct val="100000"/>
              </a:lnSpc>
              <a:spcAft>
                <a:spcPts val="113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DMZ-LAN</a:t>
            </a:r>
            <a:endParaRPr b="0" lang="en-US" sz="24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Aft>
                <a:spcPts val="1417"/>
              </a:spcAft>
              <a:buClr>
                <a:srgbClr val="c4d82f"/>
              </a:buClr>
              <a:buFont typeface="Wingdings" charset="2"/>
              <a:buChar char="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Explain IN WORDS the function of the rule(s)</a:t>
            </a:r>
            <a:endParaRPr b="0" lang="en-US" sz="24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Aft>
                <a:spcPts val="1134"/>
              </a:spcAft>
              <a:buClr>
                <a:srgbClr val="0c2c80"/>
              </a:buClr>
              <a:buSzPct val="60000"/>
              <a:buFont typeface="Wingdings" charset="2"/>
              <a:buChar char="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Then write the rules</a:t>
            </a:r>
            <a:endParaRPr b="0" lang="en-US" sz="24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Aft>
                <a:spcPts val="1417"/>
              </a:spcAft>
              <a:buClr>
                <a:srgbClr val="c4d82f"/>
              </a:buClr>
              <a:buFont typeface="Wingdings" charset="2"/>
              <a:buChar char="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Choice: vyos/cisco/linux firewall/router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31" name="CustomShape 3"/>
          <p:cNvSpPr/>
          <p:nvPr/>
        </p:nvSpPr>
        <p:spPr>
          <a:xfrm>
            <a:off x="7772400" y="110880"/>
            <a:ext cx="1992600" cy="43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0c2c80"/>
                </a:solidFill>
                <a:latin typeface="Times New Roman"/>
                <a:ea typeface="DejaVu Sans"/>
              </a:rPr>
              <a:t>Documentatie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CustomShape 1"/>
          <p:cNvSpPr/>
          <p:nvPr/>
        </p:nvSpPr>
        <p:spPr>
          <a:xfrm>
            <a:off x="640080" y="301320"/>
            <a:ext cx="8933760" cy="12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Router redundancy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233" name="CustomShape 2"/>
          <p:cNvSpPr/>
          <p:nvPr/>
        </p:nvSpPr>
        <p:spPr>
          <a:xfrm>
            <a:off x="504000" y="1769040"/>
            <a:ext cx="9069840" cy="498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3640">
              <a:lnSpc>
                <a:spcPct val="100000"/>
              </a:lnSpc>
              <a:spcAft>
                <a:spcPts val="1417"/>
              </a:spcAft>
              <a:buClr>
                <a:srgbClr val="c4d82f"/>
              </a:buClr>
              <a:buFont typeface="Wingdings" charset="2"/>
              <a:buChar char="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Choice</a:t>
            </a:r>
            <a:endParaRPr b="0" lang="en-US" sz="24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Aft>
                <a:spcPts val="1134"/>
              </a:spcAft>
              <a:buClr>
                <a:srgbClr val="0c2c80"/>
              </a:buClr>
              <a:buSzPct val="60000"/>
              <a:buFont typeface="Wingdings" charset="2"/>
              <a:buChar char="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Redundant DMZ solution</a:t>
            </a:r>
            <a:endParaRPr b="0" lang="en-US" sz="2400" spc="-1" strike="noStrike">
              <a:latin typeface="Arial"/>
            </a:endParaRPr>
          </a:p>
          <a:p>
            <a:pPr lvl="2" marL="1296000" indent="-287640">
              <a:lnSpc>
                <a:spcPct val="100000"/>
              </a:lnSpc>
              <a:spcAft>
                <a:spcPts val="850"/>
              </a:spcAft>
              <a:buClr>
                <a:srgbClr val="b10060"/>
              </a:buClr>
              <a:buSzPct val="45000"/>
              <a:buFont typeface="Wingdings" charset="2"/>
              <a:buChar char="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Services important</a:t>
            </a:r>
            <a:endParaRPr b="0" lang="en-US" sz="24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Aft>
                <a:spcPts val="1134"/>
              </a:spcAft>
              <a:buClr>
                <a:srgbClr val="0c2c80"/>
              </a:buClr>
              <a:buSzPct val="60000"/>
              <a:buFont typeface="Wingdings" charset="2"/>
              <a:buChar char="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Redundante Gateway solution</a:t>
            </a:r>
            <a:endParaRPr b="0" lang="en-US" sz="2400" spc="-1" strike="noStrike">
              <a:latin typeface="Arial"/>
            </a:endParaRPr>
          </a:p>
          <a:p>
            <a:pPr lvl="2" marL="1296000" indent="-287640">
              <a:lnSpc>
                <a:spcPct val="100000"/>
              </a:lnSpc>
              <a:spcAft>
                <a:spcPts val="850"/>
              </a:spcAft>
              <a:buClr>
                <a:srgbClr val="b10060"/>
              </a:buClr>
              <a:buSzPct val="45000"/>
              <a:buFont typeface="Wingdings" charset="2"/>
              <a:buChar char="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Clients important 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34" name="CustomShape 3"/>
          <p:cNvSpPr/>
          <p:nvPr/>
        </p:nvSpPr>
        <p:spPr>
          <a:xfrm>
            <a:off x="7232400" y="110880"/>
            <a:ext cx="2845800" cy="43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0c2c80"/>
                </a:solidFill>
                <a:latin typeface="Times New Roman"/>
                <a:ea typeface="DejaVu Sans"/>
              </a:rPr>
              <a:t>Router Redundantie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CustomShape 1"/>
          <p:cNvSpPr/>
          <p:nvPr/>
        </p:nvSpPr>
        <p:spPr>
          <a:xfrm>
            <a:off x="640080" y="301320"/>
            <a:ext cx="8933760" cy="12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Server redundancy: DMZ services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236" name="CustomShape 2"/>
          <p:cNvSpPr/>
          <p:nvPr/>
        </p:nvSpPr>
        <p:spPr>
          <a:xfrm>
            <a:off x="504000" y="1769040"/>
            <a:ext cx="9069840" cy="498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3640">
              <a:lnSpc>
                <a:spcPct val="100000"/>
              </a:lnSpc>
              <a:spcAft>
                <a:spcPts val="1417"/>
              </a:spcAft>
              <a:buClr>
                <a:srgbClr val="c4d82f"/>
              </a:buClr>
              <a:buFont typeface="Wingdings" charset="2"/>
              <a:buChar char="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Choose any OS </a:t>
            </a:r>
            <a:endParaRPr b="0" lang="en-US" sz="24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Aft>
                <a:spcPts val="1134"/>
              </a:spcAft>
              <a:buClr>
                <a:srgbClr val="0c2c80"/>
              </a:buClr>
              <a:buSzPct val="60000"/>
              <a:buFont typeface="Wingdings" charset="2"/>
              <a:buChar char="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Linux/Win/...</a:t>
            </a:r>
            <a:endParaRPr b="0" lang="en-US" sz="24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Aft>
                <a:spcPts val="1417"/>
              </a:spcAft>
              <a:buClr>
                <a:srgbClr val="c4d82f"/>
              </a:buClr>
              <a:buFont typeface="Wingdings" charset="2"/>
              <a:buChar char="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Choose a Service</a:t>
            </a:r>
            <a:endParaRPr b="0" lang="en-US" sz="24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Aft>
                <a:spcPts val="1134"/>
              </a:spcAft>
              <a:buClr>
                <a:srgbClr val="0c2c80"/>
              </a:buClr>
              <a:buSzPct val="60000"/>
              <a:buFont typeface="Wingdings" charset="2"/>
              <a:buChar char="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HTTP/Mail/File</a:t>
            </a:r>
            <a:endParaRPr b="0" lang="en-US" sz="24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Aft>
                <a:spcPts val="1417"/>
              </a:spcAft>
              <a:buClr>
                <a:srgbClr val="c4d82f"/>
              </a:buClr>
              <a:buFont typeface="Wingdings" charset="2"/>
              <a:buChar char="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Remark: Has to be dynamic and high available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37" name="CustomShape 3"/>
          <p:cNvSpPr/>
          <p:nvPr/>
        </p:nvSpPr>
        <p:spPr>
          <a:xfrm>
            <a:off x="7232400" y="110880"/>
            <a:ext cx="2795760" cy="43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0c2c80"/>
                </a:solidFill>
                <a:latin typeface="Times New Roman"/>
                <a:ea typeface="DejaVu Sans"/>
              </a:rPr>
              <a:t>Server Redundantie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CustomShape 1"/>
          <p:cNvSpPr/>
          <p:nvPr/>
        </p:nvSpPr>
        <p:spPr>
          <a:xfrm>
            <a:off x="640080" y="301320"/>
            <a:ext cx="8933760" cy="12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Server configuration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239" name="CustomShape 2"/>
          <p:cNvSpPr/>
          <p:nvPr/>
        </p:nvSpPr>
        <p:spPr>
          <a:xfrm>
            <a:off x="504000" y="1769040"/>
            <a:ext cx="9069840" cy="498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3640">
              <a:lnSpc>
                <a:spcPct val="100000"/>
              </a:lnSpc>
              <a:spcAft>
                <a:spcPts val="1417"/>
              </a:spcAft>
              <a:buClr>
                <a:srgbClr val="c4d82f"/>
              </a:buClr>
              <a:buFont typeface="Wingdings" charset="2"/>
              <a:buChar char="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Document with:</a:t>
            </a:r>
            <a:endParaRPr b="0" lang="en-US" sz="24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Aft>
                <a:spcPts val="1134"/>
              </a:spcAft>
              <a:buClr>
                <a:srgbClr val="0c2c80"/>
              </a:buClr>
              <a:buSzPct val="60000"/>
              <a:buFont typeface="Wingdings" charset="2"/>
              <a:buChar char="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Windows appcmd Scripts/Powershell</a:t>
            </a:r>
            <a:endParaRPr b="0" lang="en-US" sz="24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Aft>
                <a:spcPts val="1134"/>
              </a:spcAft>
              <a:buClr>
                <a:srgbClr val="0c2c80"/>
              </a:buClr>
              <a:buSzPct val="60000"/>
              <a:buFont typeface="Wingdings" charset="2"/>
              <a:buChar char="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Linux shell scripts</a:t>
            </a:r>
            <a:endParaRPr b="0" lang="en-US" sz="24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Aft>
                <a:spcPts val="1134"/>
              </a:spcAft>
              <a:buClr>
                <a:srgbClr val="0c2c80"/>
              </a:buClr>
              <a:buSzPct val="60000"/>
              <a:buFont typeface="Wingdings" charset="2"/>
              <a:buChar char="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Configuratiefile(s)</a:t>
            </a:r>
            <a:endParaRPr b="0" lang="en-US" sz="24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Aft>
                <a:spcPts val="1134"/>
              </a:spcAft>
              <a:buClr>
                <a:srgbClr val="0c2c80"/>
              </a:buClr>
              <a:buSzPct val="60000"/>
              <a:buFont typeface="Wingdings" charset="2"/>
              <a:buChar char="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Screenshots</a:t>
            </a:r>
            <a:endParaRPr b="0" lang="en-US" sz="24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Aft>
                <a:spcPts val="1134"/>
              </a:spcAft>
              <a:buClr>
                <a:srgbClr val="0c2c80"/>
              </a:buClr>
              <a:buSzPct val="60000"/>
              <a:buFont typeface="Wingdings" charset="2"/>
              <a:buChar char="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Do not show standard installation steps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40" name="CustomShape 3"/>
          <p:cNvSpPr/>
          <p:nvPr/>
        </p:nvSpPr>
        <p:spPr>
          <a:xfrm>
            <a:off x="7232760" y="110880"/>
            <a:ext cx="2795760" cy="43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0c2c80"/>
                </a:solidFill>
                <a:latin typeface="Times New Roman"/>
                <a:ea typeface="DejaVu Sans"/>
              </a:rPr>
              <a:t>Server Redundancy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CustomShape 1"/>
          <p:cNvSpPr/>
          <p:nvPr/>
        </p:nvSpPr>
        <p:spPr>
          <a:xfrm>
            <a:off x="640080" y="301320"/>
            <a:ext cx="8933760" cy="12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VPN solution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242" name="CustomShape 2"/>
          <p:cNvSpPr/>
          <p:nvPr/>
        </p:nvSpPr>
        <p:spPr>
          <a:xfrm>
            <a:off x="504000" y="1769040"/>
            <a:ext cx="9069840" cy="498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3640">
              <a:lnSpc>
                <a:spcPct val="100000"/>
              </a:lnSpc>
              <a:spcAft>
                <a:spcPts val="1417"/>
              </a:spcAft>
              <a:buClr>
                <a:srgbClr val="c4d82f"/>
              </a:buClr>
              <a:buFont typeface="Wingdings" charset="2"/>
              <a:buChar char="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Provide a VPN oplossing for clients connecting from home to DMZ server(s) </a:t>
            </a:r>
            <a:endParaRPr b="0" lang="en-US" sz="24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Aft>
                <a:spcPts val="1134"/>
              </a:spcAft>
              <a:buClr>
                <a:srgbClr val="0c2c80"/>
              </a:buClr>
              <a:buSzPct val="60000"/>
              <a:buFont typeface="Wingdings" charset="2"/>
              <a:buChar char="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Solution for multiple clients (NOT point to point)</a:t>
            </a:r>
            <a:endParaRPr b="0" lang="en-US" sz="24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Aft>
                <a:spcPts val="1134"/>
              </a:spcAft>
              <a:buClr>
                <a:srgbClr val="0c2c80"/>
              </a:buClr>
              <a:buSzPct val="60000"/>
              <a:buFont typeface="Wingdings" charset="2"/>
              <a:buChar char="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Should be able to connect to a server within the company network</a:t>
            </a:r>
            <a:endParaRPr b="0" lang="en-US" sz="24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Aft>
                <a:spcPts val="1134"/>
              </a:spcAft>
              <a:buClr>
                <a:srgbClr val="0c2c80"/>
              </a:buClr>
              <a:buSzPct val="60000"/>
              <a:buFont typeface="Wingdings" charset="2"/>
              <a:buChar char="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Vyos or Linux</a:t>
            </a:r>
            <a:endParaRPr b="0" lang="en-US" sz="24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Aft>
                <a:spcPts val="1134"/>
              </a:spcAft>
              <a:buClr>
                <a:srgbClr val="0c2c80"/>
              </a:buClr>
              <a:buSzPct val="60000"/>
              <a:buFont typeface="Wingdings" charset="2"/>
              <a:buChar char="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NOT in Packettracer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43" name="CustomShape 3"/>
          <p:cNvSpPr/>
          <p:nvPr/>
        </p:nvSpPr>
        <p:spPr>
          <a:xfrm>
            <a:off x="7232760" y="110880"/>
            <a:ext cx="2135880" cy="43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0c2c80"/>
                </a:solidFill>
                <a:latin typeface="Times New Roman"/>
                <a:ea typeface="DejaVu Sans"/>
              </a:rPr>
              <a:t>VPN solution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" descr=""/>
          <p:cNvPicPr/>
          <p:nvPr/>
        </p:nvPicPr>
        <p:blipFill>
          <a:blip r:embed="rId1"/>
          <a:stretch/>
        </p:blipFill>
        <p:spPr>
          <a:xfrm>
            <a:off x="1116000" y="2180160"/>
            <a:ext cx="6746040" cy="4196520"/>
          </a:xfrm>
          <a:prstGeom prst="rect">
            <a:avLst/>
          </a:prstGeom>
          <a:ln w="0">
            <a:noFill/>
          </a:ln>
        </p:spPr>
      </p:pic>
      <p:sp>
        <p:nvSpPr>
          <p:cNvPr id="245" name="CustomShape 1"/>
          <p:cNvSpPr/>
          <p:nvPr/>
        </p:nvSpPr>
        <p:spPr>
          <a:xfrm>
            <a:off x="640080" y="301320"/>
            <a:ext cx="8933760" cy="12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X factor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246" name="CustomShape 2"/>
          <p:cNvSpPr/>
          <p:nvPr/>
        </p:nvSpPr>
        <p:spPr>
          <a:xfrm>
            <a:off x="504000" y="1769040"/>
            <a:ext cx="9069840" cy="498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3640">
              <a:lnSpc>
                <a:spcPct val="100000"/>
              </a:lnSpc>
              <a:spcAft>
                <a:spcPts val="1417"/>
              </a:spcAft>
              <a:buClr>
                <a:srgbClr val="c4d82f"/>
              </a:buClr>
              <a:buFont typeface="Wingdings" charset="2"/>
              <a:buChar char="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Deep dive into one aspect (security, price, technology, IPv6, VoIP, super redundant...)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47" name="CustomShape 3"/>
          <p:cNvSpPr/>
          <p:nvPr/>
        </p:nvSpPr>
        <p:spPr>
          <a:xfrm>
            <a:off x="7498080" y="110880"/>
            <a:ext cx="2266920" cy="43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0c2c80"/>
                </a:solidFill>
                <a:latin typeface="Times New Roman"/>
                <a:ea typeface="DejaVu Sans"/>
              </a:rPr>
              <a:t>Documentation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CustomShape 1"/>
          <p:cNvSpPr/>
          <p:nvPr/>
        </p:nvSpPr>
        <p:spPr>
          <a:xfrm>
            <a:off x="640080" y="301320"/>
            <a:ext cx="8933760" cy="12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Timesheets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249" name="CustomShape 2"/>
          <p:cNvSpPr/>
          <p:nvPr/>
        </p:nvSpPr>
        <p:spPr>
          <a:xfrm>
            <a:off x="504000" y="1769040"/>
            <a:ext cx="9069840" cy="498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3640">
              <a:lnSpc>
                <a:spcPct val="100000"/>
              </a:lnSpc>
              <a:spcAft>
                <a:spcPts val="1417"/>
              </a:spcAft>
              <a:buClr>
                <a:srgbClr val="c4d82f"/>
              </a:buClr>
              <a:buFont typeface="Wingdings" charset="2"/>
              <a:buChar char="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Divide all tasks</a:t>
            </a:r>
            <a:endParaRPr b="0" lang="en-US" sz="24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Aft>
                <a:spcPts val="1134"/>
              </a:spcAft>
              <a:buClr>
                <a:srgbClr val="0c2c80"/>
              </a:buClr>
              <a:buSzPct val="60000"/>
              <a:buFont typeface="Wingdings" charset="2"/>
              <a:buChar char="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Add a short description of the things you did</a:t>
            </a:r>
            <a:endParaRPr b="0" lang="en-US" sz="24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Aft>
                <a:spcPts val="1134"/>
              </a:spcAft>
              <a:buClr>
                <a:srgbClr val="0c2c80"/>
              </a:buClr>
              <a:buSzPct val="60000"/>
              <a:buFont typeface="Wingdings" charset="2"/>
              <a:buChar char="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Who did what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417"/>
              </a:spcAft>
              <a:buNone/>
            </a:pPr>
            <a:endParaRPr b="0" lang="en-US" sz="2400" spc="-1" strike="noStrike">
              <a:latin typeface="Arial"/>
            </a:endParaRPr>
          </a:p>
        </p:txBody>
      </p:sp>
      <p:sp>
        <p:nvSpPr>
          <p:cNvPr id="250" name="CustomShape 3"/>
          <p:cNvSpPr/>
          <p:nvPr/>
        </p:nvSpPr>
        <p:spPr>
          <a:xfrm>
            <a:off x="7315200" y="110880"/>
            <a:ext cx="2449800" cy="43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0c2c80"/>
                </a:solidFill>
                <a:latin typeface="Times New Roman"/>
                <a:ea typeface="DejaVu Sans"/>
              </a:rPr>
              <a:t>Documentation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CustomShape 1"/>
          <p:cNvSpPr/>
          <p:nvPr/>
        </p:nvSpPr>
        <p:spPr>
          <a:xfrm>
            <a:off x="640080" y="301320"/>
            <a:ext cx="8933760" cy="12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Presentation during exams P4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252" name="CustomShape 2"/>
          <p:cNvSpPr/>
          <p:nvPr/>
        </p:nvSpPr>
        <p:spPr>
          <a:xfrm>
            <a:off x="504000" y="1769040"/>
            <a:ext cx="9069840" cy="498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97000"/>
          </a:bodyPr>
          <a:p>
            <a:pPr marL="432000" indent="-323640">
              <a:lnSpc>
                <a:spcPct val="100000"/>
              </a:lnSpc>
              <a:spcAft>
                <a:spcPts val="1417"/>
              </a:spcAft>
              <a:buClr>
                <a:srgbClr val="c4d82f"/>
              </a:buClr>
              <a:buFont typeface="Wingdings" charset="2"/>
              <a:buChar char="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Maximum 5 minutes</a:t>
            </a:r>
            <a:endParaRPr b="0" lang="en-US" sz="24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Aft>
                <a:spcPts val="1417"/>
              </a:spcAft>
              <a:buClr>
                <a:srgbClr val="c4d82f"/>
              </a:buClr>
              <a:buFont typeface="Wingdings" charset="2"/>
              <a:buChar char="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Global</a:t>
            </a:r>
            <a:endParaRPr b="0" lang="en-US" sz="24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Aft>
                <a:spcPts val="1134"/>
              </a:spcAft>
              <a:buClr>
                <a:srgbClr val="0c2c80"/>
              </a:buClr>
              <a:buSzPct val="60000"/>
              <a:buFont typeface="Wingdings" charset="2"/>
              <a:buChar char="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Define company assets, core business</a:t>
            </a:r>
            <a:endParaRPr b="0" lang="en-US" sz="24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Aft>
                <a:spcPts val="1134"/>
              </a:spcAft>
              <a:buClr>
                <a:srgbClr val="0c2c80"/>
              </a:buClr>
              <a:buSzPct val="60000"/>
              <a:buFont typeface="Wingdings" charset="2"/>
              <a:buChar char="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Show global network design </a:t>
            </a:r>
            <a:endParaRPr b="0" lang="en-US" sz="24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Aft>
                <a:spcPts val="1417"/>
              </a:spcAft>
              <a:buClr>
                <a:srgbClr val="c4d82f"/>
              </a:buClr>
              <a:buFont typeface="Wingdings" charset="2"/>
              <a:buChar char="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No slides with IP addresses or firewall rules</a:t>
            </a:r>
            <a:endParaRPr b="0" lang="en-US" sz="24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Aft>
                <a:spcPts val="1134"/>
              </a:spcAft>
              <a:buClr>
                <a:srgbClr val="0c2c80"/>
              </a:buClr>
              <a:buSzPct val="60000"/>
              <a:buFont typeface="Wingdings" charset="2"/>
              <a:buChar char="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OK if you show words</a:t>
            </a:r>
            <a:endParaRPr b="0" lang="en-US" sz="24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Aft>
                <a:spcPts val="1417"/>
              </a:spcAft>
              <a:buClr>
                <a:srgbClr val="c4d82f"/>
              </a:buClr>
              <a:buFont typeface="Wingdings" charset="2"/>
              <a:buChar char="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Show redundant solutions</a:t>
            </a:r>
            <a:endParaRPr b="0" lang="en-US" sz="24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Aft>
                <a:spcPts val="1417"/>
              </a:spcAft>
              <a:buClr>
                <a:srgbClr val="0c2c80"/>
              </a:buClr>
              <a:buSzPct val="60000"/>
              <a:buFont typeface="Wingdings" charset="2"/>
              <a:buChar char="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servers, routers</a:t>
            </a:r>
            <a:endParaRPr b="0" lang="en-US" sz="24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Aft>
                <a:spcPts val="1134"/>
              </a:spcAft>
              <a:buClr>
                <a:srgbClr val="0c2c80"/>
              </a:buClr>
              <a:buSzPct val="60000"/>
              <a:buFont typeface="Wingdings" charset="2"/>
              <a:buChar char="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demo if possible</a:t>
            </a:r>
            <a:endParaRPr b="0" lang="en-US" sz="24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Aft>
                <a:spcPts val="1417"/>
              </a:spcAft>
              <a:buClr>
                <a:srgbClr val="c4d82f"/>
              </a:buClr>
              <a:buFont typeface="Wingdings" charset="2"/>
              <a:buChar char="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Show X factor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53" name="CustomShape 3"/>
          <p:cNvSpPr/>
          <p:nvPr/>
        </p:nvSpPr>
        <p:spPr>
          <a:xfrm>
            <a:off x="7772400" y="110880"/>
            <a:ext cx="1992600" cy="43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0c2c80"/>
                </a:solidFill>
                <a:latin typeface="Times New Roman"/>
                <a:ea typeface="DejaVu Sans"/>
              </a:rPr>
              <a:t>Presentation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1864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2011-11-21T14:06:15Z</dcterms:created>
  <dc:creator>jancelis </dc:creator>
  <dc:description/>
  <dc:language>en-US</dc:language>
  <cp:lastModifiedBy/>
  <dcterms:modified xsi:type="dcterms:W3CDTF">2025-03-23T21:24:34Z</dcterms:modified>
  <cp:revision>104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